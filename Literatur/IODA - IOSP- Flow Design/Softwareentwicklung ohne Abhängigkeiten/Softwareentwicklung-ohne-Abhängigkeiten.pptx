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12" name="Textebene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21" name="Textebene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Titeltext</a:t>
            </a:r>
          </a:p>
        </p:txBody>
      </p:sp>
      <p:sp>
        <p:nvSpPr>
          <p:cNvPr id="30" name="Textebene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3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39" name="Textebene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48" name="Textebene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9" name="Text Placeholder 4"/>
          <p:cNvSpPr/>
          <p:nvPr>
            <p:ph type="body" sz="quarter" idx="13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5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el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Titeltext</a:t>
            </a:r>
          </a:p>
        </p:txBody>
      </p:sp>
      <p:sp>
        <p:nvSpPr>
          <p:cNvPr id="73" name="Textebene 1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4" name="Text Placeholder 3"/>
          <p:cNvSpPr/>
          <p:nvPr>
            <p:ph type="body" sz="half" idx="13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el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Titeltext</a:t>
            </a:r>
          </a:p>
        </p:txBody>
      </p:sp>
      <p:sp>
        <p:nvSpPr>
          <p:cNvPr id="83" name="Picture Placeholder 2"/>
          <p:cNvSpPr/>
          <p:nvPr>
            <p:ph type="pic" sz="half" idx="13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Textebene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8428176" y="6404292"/>
            <a:ext cx="258624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refactoring-legacy-code.net" TargetMode="Externa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flow-design.info/buch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slieser/flowdesignbuch" TargetMode="Externa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tefanlieser.webinarninja.com/live-webinars/365899/register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flow-design.info/buch" TargetMode="Externa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StefanLieser" TargetMode="External"/><Relationship Id="rId3" Type="http://schemas.openxmlformats.org/officeDocument/2006/relationships/image" Target="../media/image17.png"/><Relationship Id="rId4" Type="http://schemas.openxmlformats.org/officeDocument/2006/relationships/hyperlink" Target="http://xing.com/profile/stefan_lieser" TargetMode="External"/><Relationship Id="rId5" Type="http://schemas.openxmlformats.org/officeDocument/2006/relationships/image" Target="../media/image18.png"/><Relationship Id="rId6" Type="http://schemas.openxmlformats.org/officeDocument/2006/relationships/hyperlink" Target="http://linkedin.com/in/stefanlieser" TargetMode="External"/><Relationship Id="rId7" Type="http://schemas.openxmlformats.org/officeDocument/2006/relationships/image" Target="../media/image19.png"/><Relationship Id="rId8" Type="http://schemas.openxmlformats.org/officeDocument/2006/relationships/hyperlink" Target="http://refactoring-legacy-code.net" TargetMode="External"/><Relationship Id="rId9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685800" y="313280"/>
            <a:ext cx="7772400" cy="4833808"/>
          </a:xfrm>
          <a:prstGeom prst="rect">
            <a:avLst/>
          </a:prstGeom>
        </p:spPr>
        <p:txBody>
          <a:bodyPr/>
          <a:lstStyle/>
          <a:p>
            <a:pPr defTabSz="374904">
              <a:defRPr sz="4428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Softwareentwicklung</a:t>
            </a:r>
            <a:br/>
            <a:r>
              <a:rPr>
                <a:solidFill>
                  <a:srgbClr val="808080"/>
                </a:solidFill>
              </a:rPr>
              <a:t>ohne</a:t>
            </a:r>
            <a:br>
              <a:rPr>
                <a:solidFill>
                  <a:srgbClr val="808080"/>
                </a:solidFill>
              </a:rPr>
            </a:br>
            <a:r>
              <a:t>Abhängigkeiten</a:t>
            </a:r>
            <a:br/>
            <a:br/>
            <a:r>
              <a:rPr sz="3198">
                <a:latin typeface="Bradley Hand ITC TT-Bold"/>
                <a:ea typeface="Bradley Hand ITC TT-Bold"/>
                <a:cs typeface="Bradley Hand ITC TT-Bold"/>
                <a:sym typeface="Bradley Hand ITC TT-Bold"/>
              </a:rPr>
              <a:t>Stefan Lieser</a:t>
            </a:r>
            <a:endParaRPr sz="3198">
              <a:latin typeface="Bradley Hand ITC TT-Bold"/>
              <a:ea typeface="Bradley Hand ITC TT-Bold"/>
              <a:cs typeface="Bradley Hand ITC TT-Bold"/>
              <a:sym typeface="Bradley Hand ITC TT-Bold"/>
            </a:endParaRPr>
          </a:p>
          <a:p>
            <a:pPr defTabSz="374904">
              <a:defRPr sz="4428">
                <a:latin typeface="FFF Tusj Bold"/>
                <a:ea typeface="FFF Tusj Bold"/>
                <a:cs typeface="FFF Tusj Bold"/>
                <a:sym typeface="FFF Tusj Bold"/>
              </a:defRPr>
            </a:pPr>
            <a:br>
              <a:rPr sz="984">
                <a:latin typeface="Bradley Hand ITC TT-Bold"/>
                <a:ea typeface="Bradley Hand ITC TT-Bold"/>
                <a:cs typeface="Bradley Hand ITC TT-Bold"/>
                <a:sym typeface="Bradley Hand ITC TT-Bold"/>
              </a:rPr>
            </a:br>
            <a:r>
              <a:rPr sz="3198">
                <a:solidFill>
                  <a:schemeClr val="accent5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rPr>
              <a:t>stefan</a:t>
            </a:r>
            <a:r>
              <a:rPr sz="2952">
                <a:solidFill>
                  <a:schemeClr val="accent5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rPr>
              <a:t>@lieser-online.de</a:t>
            </a:r>
            <a:br>
              <a:rPr sz="2952">
                <a:solidFill>
                  <a:schemeClr val="accent5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rPr>
            </a:br>
          </a:p>
        </p:txBody>
      </p:sp>
      <p:pic>
        <p:nvPicPr>
          <p:cNvPr id="95" name="Picture 2" descr="Picture 2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rcRect l="0" t="31781" r="0" b="38312"/>
          <a:stretch>
            <a:fillRect/>
          </a:stretch>
        </p:blipFill>
        <p:spPr>
          <a:xfrm>
            <a:off x="0" y="5578029"/>
            <a:ext cx="3780200" cy="1130544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Box 3">
            <a:hlinkClick r:id="rId2" invalidUrl="" action="" tgtFrame="" tooltip="" history="1" highlightClick="0" endSnd="0"/>
          </p:cNvPr>
          <p:cNvSpPr txBox="1"/>
          <p:nvPr/>
        </p:nvSpPr>
        <p:spPr>
          <a:xfrm>
            <a:off x="3825919" y="5959002"/>
            <a:ext cx="503618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/>
            </a:lvl1pPr>
          </a:lstStyle>
          <a:p>
            <a:pPr/>
            <a:r>
              <a:t>http://refactoring-legacy-code.net</a:t>
            </a:r>
          </a:p>
        </p:txBody>
      </p:sp>
      <p:sp>
        <p:nvSpPr>
          <p:cNvPr id="97" name="Straight Connector 5"/>
          <p:cNvSpPr/>
          <p:nvPr/>
        </p:nvSpPr>
        <p:spPr>
          <a:xfrm>
            <a:off x="0" y="5425673"/>
            <a:ext cx="9144000" cy="1"/>
          </a:xfrm>
          <a:prstGeom prst="line">
            <a:avLst/>
          </a:pr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Mit Flow Design zu Clean Code.png" descr="Mit Flow Design zu Clean Cod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0359" y="335141"/>
            <a:ext cx="4386191" cy="6187718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https://flow-design.info/buch"/>
          <p:cNvSpPr txBox="1"/>
          <p:nvPr/>
        </p:nvSpPr>
        <p:spPr>
          <a:xfrm>
            <a:off x="5019007" y="1096546"/>
            <a:ext cx="3767694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https://flow-design.info/buch</a:t>
            </a:r>
          </a:p>
        </p:txBody>
      </p:sp>
      <p:sp>
        <p:nvSpPr>
          <p:cNvPr id="101" name="Vorabveröffentlichung…"/>
          <p:cNvSpPr txBox="1"/>
          <p:nvPr/>
        </p:nvSpPr>
        <p:spPr>
          <a:xfrm>
            <a:off x="5060697" y="1888656"/>
            <a:ext cx="3745985" cy="148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Vorabveröffentlichung</a:t>
            </a:r>
          </a:p>
          <a:p>
            <a:pPr marL="180473" indent="-180473">
              <a:buSzPct val="100000"/>
              <a:buChar char="-"/>
            </a:pPr>
            <a:r>
              <a:t>E-Book (PDF, mobi, epub)</a:t>
            </a:r>
          </a:p>
          <a:p>
            <a:pPr marL="180473" indent="-180473">
              <a:buSzPct val="100000"/>
              <a:buChar char="-"/>
            </a:pPr>
            <a:r>
              <a:t>Inhalt vollständig (400 Seiten)</a:t>
            </a:r>
          </a:p>
          <a:p>
            <a:pPr marL="180473" indent="-180473">
              <a:buSzPct val="100000"/>
              <a:buChar char="-"/>
            </a:pPr>
            <a:r>
              <a:t>Endgültige Version im Preis enthalten</a:t>
            </a:r>
          </a:p>
          <a:p>
            <a:pPr marL="180473" indent="-180473">
              <a:buSzPct val="100000"/>
              <a:buChar char="-"/>
            </a:pPr>
            <a:r>
              <a:t>Sonderpreis 19,95 EUR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5023" y="489391"/>
            <a:ext cx="7937801" cy="59268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3"/>
          <p:cNvSpPr txBox="1"/>
          <p:nvPr/>
        </p:nvSpPr>
        <p:spPr>
          <a:xfrm>
            <a:off x="1871835" y="664565"/>
            <a:ext cx="5400338" cy="133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72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Korrektheit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3"/>
          <p:cNvSpPr txBox="1"/>
          <p:nvPr/>
        </p:nvSpPr>
        <p:spPr>
          <a:xfrm>
            <a:off x="1177329" y="664564"/>
            <a:ext cx="6789351" cy="3825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72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Korrektheit</a:t>
            </a:r>
          </a:p>
          <a:p>
            <a:pPr algn="ctr">
              <a:defRPr sz="72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&amp;</a:t>
            </a:r>
          </a:p>
          <a:p>
            <a:pPr algn="ctr">
              <a:defRPr sz="72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Wandelbarkeit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Oval 18"/>
          <p:cNvSpPr/>
          <p:nvPr/>
        </p:nvSpPr>
        <p:spPr>
          <a:xfrm>
            <a:off x="854773" y="2274302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Oval 19"/>
          <p:cNvSpPr/>
          <p:nvPr/>
        </p:nvSpPr>
        <p:spPr>
          <a:xfrm>
            <a:off x="1994072" y="2274302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Oval 20"/>
          <p:cNvSpPr/>
          <p:nvPr/>
        </p:nvSpPr>
        <p:spPr>
          <a:xfrm>
            <a:off x="3173328" y="2274302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Oval 21"/>
          <p:cNvSpPr/>
          <p:nvPr/>
        </p:nvSpPr>
        <p:spPr>
          <a:xfrm>
            <a:off x="1985517" y="3665701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113" name="Straight Arrow Connector 8"/>
          <p:cNvCxnSpPr>
            <a:stCxn id="112" idx="0"/>
            <a:endCxn id="109" idx="0"/>
          </p:cNvCxnSpPr>
          <p:nvPr/>
        </p:nvCxnSpPr>
        <p:spPr>
          <a:xfrm flipH="1" flipV="1">
            <a:off x="1113455" y="2525181"/>
            <a:ext cx="1130745" cy="139140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14" name="Straight Arrow Connector 9"/>
          <p:cNvCxnSpPr>
            <a:stCxn id="112" idx="0"/>
            <a:endCxn id="110" idx="0"/>
          </p:cNvCxnSpPr>
          <p:nvPr/>
        </p:nvCxnSpPr>
        <p:spPr>
          <a:xfrm flipV="1">
            <a:off x="2244199" y="2525181"/>
            <a:ext cx="8556" cy="139140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15" name="Straight Arrow Connector 10"/>
          <p:cNvCxnSpPr>
            <a:stCxn id="112" idx="0"/>
            <a:endCxn id="111" idx="0"/>
          </p:cNvCxnSpPr>
          <p:nvPr/>
        </p:nvCxnSpPr>
        <p:spPr>
          <a:xfrm flipV="1">
            <a:off x="2244199" y="2525181"/>
            <a:ext cx="1187812" cy="139140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116" name="Oval 40"/>
          <p:cNvSpPr/>
          <p:nvPr/>
        </p:nvSpPr>
        <p:spPr>
          <a:xfrm>
            <a:off x="6101339" y="245169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Oval 41"/>
          <p:cNvSpPr/>
          <p:nvPr/>
        </p:nvSpPr>
        <p:spPr>
          <a:xfrm>
            <a:off x="7387746" y="3610095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Oval 42"/>
          <p:cNvSpPr/>
          <p:nvPr/>
        </p:nvSpPr>
        <p:spPr>
          <a:xfrm>
            <a:off x="6101339" y="3610095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Oval 43"/>
          <p:cNvSpPr/>
          <p:nvPr/>
        </p:nvSpPr>
        <p:spPr>
          <a:xfrm>
            <a:off x="4779126" y="3610095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120" name="Straight Arrow Connector 44"/>
          <p:cNvCxnSpPr>
            <a:stCxn id="116" idx="0"/>
            <a:endCxn id="119" idx="0"/>
          </p:cNvCxnSpPr>
          <p:nvPr/>
        </p:nvCxnSpPr>
        <p:spPr>
          <a:xfrm flipH="1">
            <a:off x="5037808" y="2702577"/>
            <a:ext cx="1322214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21" name="Straight Arrow Connector 45"/>
          <p:cNvCxnSpPr>
            <a:stCxn id="116" idx="0"/>
            <a:endCxn id="118" idx="0"/>
          </p:cNvCxnSpPr>
          <p:nvPr/>
        </p:nvCxnSpPr>
        <p:spPr>
          <a:xfrm>
            <a:off x="6360021" y="2702577"/>
            <a:ext cx="1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22" name="Straight Arrow Connector 46"/>
          <p:cNvCxnSpPr>
            <a:stCxn id="116" idx="0"/>
            <a:endCxn id="117" idx="0"/>
          </p:cNvCxnSpPr>
          <p:nvPr/>
        </p:nvCxnSpPr>
        <p:spPr>
          <a:xfrm>
            <a:off x="6360021" y="2702577"/>
            <a:ext cx="1286408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123" name="TextBox 16"/>
          <p:cNvSpPr txBox="1"/>
          <p:nvPr/>
        </p:nvSpPr>
        <p:spPr>
          <a:xfrm>
            <a:off x="1412423" y="219372"/>
            <a:ext cx="6319154" cy="161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Typische Struktur von</a:t>
            </a:r>
          </a:p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Abhängigkeiten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Oval 18"/>
          <p:cNvSpPr/>
          <p:nvPr/>
        </p:nvSpPr>
        <p:spPr>
          <a:xfrm>
            <a:off x="854773" y="2274302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Oval 19"/>
          <p:cNvSpPr/>
          <p:nvPr/>
        </p:nvSpPr>
        <p:spPr>
          <a:xfrm>
            <a:off x="1994072" y="2274302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Oval 20"/>
          <p:cNvSpPr/>
          <p:nvPr/>
        </p:nvSpPr>
        <p:spPr>
          <a:xfrm>
            <a:off x="3173328" y="2274302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Oval 21"/>
          <p:cNvSpPr/>
          <p:nvPr/>
        </p:nvSpPr>
        <p:spPr>
          <a:xfrm>
            <a:off x="1985517" y="3665701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129" name="Straight Arrow Connector 8"/>
          <p:cNvCxnSpPr>
            <a:stCxn id="128" idx="0"/>
            <a:endCxn id="125" idx="0"/>
          </p:cNvCxnSpPr>
          <p:nvPr/>
        </p:nvCxnSpPr>
        <p:spPr>
          <a:xfrm flipH="1" flipV="1">
            <a:off x="1113455" y="2525181"/>
            <a:ext cx="1130745" cy="139140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30" name="Straight Arrow Connector 9"/>
          <p:cNvCxnSpPr>
            <a:stCxn id="128" idx="0"/>
            <a:endCxn id="126" idx="0"/>
          </p:cNvCxnSpPr>
          <p:nvPr/>
        </p:nvCxnSpPr>
        <p:spPr>
          <a:xfrm flipV="1">
            <a:off x="2244199" y="2525181"/>
            <a:ext cx="8556" cy="139140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31" name="Straight Arrow Connector 10"/>
          <p:cNvCxnSpPr>
            <a:stCxn id="128" idx="0"/>
            <a:endCxn id="127" idx="0"/>
          </p:cNvCxnSpPr>
          <p:nvPr/>
        </p:nvCxnSpPr>
        <p:spPr>
          <a:xfrm flipV="1">
            <a:off x="2244199" y="2525181"/>
            <a:ext cx="1187812" cy="139140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132" name="Oval 40"/>
          <p:cNvSpPr/>
          <p:nvPr/>
        </p:nvSpPr>
        <p:spPr>
          <a:xfrm>
            <a:off x="6101339" y="245169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Oval 41"/>
          <p:cNvSpPr/>
          <p:nvPr/>
        </p:nvSpPr>
        <p:spPr>
          <a:xfrm>
            <a:off x="7387746" y="3610095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Oval 42"/>
          <p:cNvSpPr/>
          <p:nvPr/>
        </p:nvSpPr>
        <p:spPr>
          <a:xfrm>
            <a:off x="6101339" y="3610095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Oval 43"/>
          <p:cNvSpPr/>
          <p:nvPr/>
        </p:nvSpPr>
        <p:spPr>
          <a:xfrm>
            <a:off x="4779126" y="3610095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136" name="Straight Arrow Connector 44"/>
          <p:cNvCxnSpPr>
            <a:stCxn id="132" idx="0"/>
            <a:endCxn id="135" idx="0"/>
          </p:cNvCxnSpPr>
          <p:nvPr/>
        </p:nvCxnSpPr>
        <p:spPr>
          <a:xfrm flipH="1">
            <a:off x="5037808" y="2702577"/>
            <a:ext cx="1322214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37" name="Straight Arrow Connector 45"/>
          <p:cNvCxnSpPr>
            <a:stCxn id="132" idx="0"/>
            <a:endCxn id="134" idx="0"/>
          </p:cNvCxnSpPr>
          <p:nvPr/>
        </p:nvCxnSpPr>
        <p:spPr>
          <a:xfrm>
            <a:off x="6360021" y="2702577"/>
            <a:ext cx="1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38" name="Straight Arrow Connector 46"/>
          <p:cNvCxnSpPr>
            <a:stCxn id="132" idx="0"/>
            <a:endCxn id="133" idx="0"/>
          </p:cNvCxnSpPr>
          <p:nvPr/>
        </p:nvCxnSpPr>
        <p:spPr>
          <a:xfrm>
            <a:off x="6360021" y="2702577"/>
            <a:ext cx="1286408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139" name="Oval 16"/>
          <p:cNvSpPr/>
          <p:nvPr/>
        </p:nvSpPr>
        <p:spPr>
          <a:xfrm>
            <a:off x="774243" y="5035987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Straight Arrow Connector 17"/>
          <p:cNvSpPr/>
          <p:nvPr/>
        </p:nvSpPr>
        <p:spPr>
          <a:xfrm flipH="1">
            <a:off x="644064" y="6033106"/>
            <a:ext cx="691119" cy="1"/>
          </a:xfrm>
          <a:prstGeom prst="line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" name="TextBox 4"/>
          <p:cNvSpPr txBox="1"/>
          <p:nvPr/>
        </p:nvSpPr>
        <p:spPr>
          <a:xfrm>
            <a:off x="242135" y="5730080"/>
            <a:ext cx="362662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42" name="TextBox 22"/>
          <p:cNvSpPr txBox="1"/>
          <p:nvPr/>
        </p:nvSpPr>
        <p:spPr>
          <a:xfrm>
            <a:off x="1523221" y="5730080"/>
            <a:ext cx="347727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43" name="TextBox 23"/>
          <p:cNvSpPr txBox="1"/>
          <p:nvPr/>
        </p:nvSpPr>
        <p:spPr>
          <a:xfrm>
            <a:off x="2204407" y="5069747"/>
            <a:ext cx="6758128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= Funktionseinheit (Methode, Klasse, etc.)</a:t>
            </a:r>
          </a:p>
        </p:txBody>
      </p:sp>
      <p:sp>
        <p:nvSpPr>
          <p:cNvPr id="144" name="TextBox 24"/>
          <p:cNvSpPr txBox="1"/>
          <p:nvPr/>
        </p:nvSpPr>
        <p:spPr>
          <a:xfrm>
            <a:off x="2194784" y="5730080"/>
            <a:ext cx="6406440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= Abhängigkeit (A ist abhängig von B)</a:t>
            </a:r>
          </a:p>
        </p:txBody>
      </p:sp>
      <p:sp>
        <p:nvSpPr>
          <p:cNvPr id="145" name="TextBox 25"/>
          <p:cNvSpPr txBox="1"/>
          <p:nvPr/>
        </p:nvSpPr>
        <p:spPr>
          <a:xfrm>
            <a:off x="1412423" y="219372"/>
            <a:ext cx="6319154" cy="161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Typische Struktur von</a:t>
            </a:r>
          </a:p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Abhängigkeiten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 txBox="1"/>
          <p:nvPr/>
        </p:nvSpPr>
        <p:spPr>
          <a:xfrm>
            <a:off x="1412423" y="219372"/>
            <a:ext cx="6319154" cy="161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Typische Struktur von</a:t>
            </a:r>
          </a:p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Abhängigkeiten</a:t>
            </a:r>
          </a:p>
        </p:txBody>
      </p:sp>
      <p:sp>
        <p:nvSpPr>
          <p:cNvPr id="148" name="Oval 18"/>
          <p:cNvSpPr/>
          <p:nvPr/>
        </p:nvSpPr>
        <p:spPr>
          <a:xfrm>
            <a:off x="849521" y="22652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Oval 19"/>
          <p:cNvSpPr/>
          <p:nvPr/>
        </p:nvSpPr>
        <p:spPr>
          <a:xfrm>
            <a:off x="1988821" y="22652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Oval 20"/>
          <p:cNvSpPr/>
          <p:nvPr/>
        </p:nvSpPr>
        <p:spPr>
          <a:xfrm>
            <a:off x="3168077" y="22652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Oval 21"/>
          <p:cNvSpPr/>
          <p:nvPr/>
        </p:nvSpPr>
        <p:spPr>
          <a:xfrm>
            <a:off x="1980266" y="36566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152" name="Straight Arrow Connector 8"/>
          <p:cNvCxnSpPr>
            <a:stCxn id="151" idx="0"/>
            <a:endCxn id="148" idx="0"/>
          </p:cNvCxnSpPr>
          <p:nvPr/>
        </p:nvCxnSpPr>
        <p:spPr>
          <a:xfrm flipH="1" flipV="1">
            <a:off x="1108203" y="2516115"/>
            <a:ext cx="1130746" cy="1391401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53" name="Straight Arrow Connector 9"/>
          <p:cNvCxnSpPr>
            <a:stCxn id="151" idx="0"/>
            <a:endCxn id="149" idx="0"/>
          </p:cNvCxnSpPr>
          <p:nvPr/>
        </p:nvCxnSpPr>
        <p:spPr>
          <a:xfrm flipV="1">
            <a:off x="2238948" y="2516115"/>
            <a:ext cx="8556" cy="1391401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54" name="Straight Arrow Connector 10"/>
          <p:cNvCxnSpPr>
            <a:stCxn id="151" idx="0"/>
            <a:endCxn id="150" idx="0"/>
          </p:cNvCxnSpPr>
          <p:nvPr/>
        </p:nvCxnSpPr>
        <p:spPr>
          <a:xfrm flipV="1">
            <a:off x="2238948" y="2516115"/>
            <a:ext cx="1187812" cy="1391401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Oval 18"/>
          <p:cNvSpPr/>
          <p:nvPr/>
        </p:nvSpPr>
        <p:spPr>
          <a:xfrm>
            <a:off x="848779" y="22652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Oval 19"/>
          <p:cNvSpPr/>
          <p:nvPr/>
        </p:nvSpPr>
        <p:spPr>
          <a:xfrm>
            <a:off x="1988078" y="22652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Oval 20"/>
          <p:cNvSpPr/>
          <p:nvPr/>
        </p:nvSpPr>
        <p:spPr>
          <a:xfrm>
            <a:off x="3167334" y="22652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Oval 21"/>
          <p:cNvSpPr/>
          <p:nvPr/>
        </p:nvSpPr>
        <p:spPr>
          <a:xfrm>
            <a:off x="1979523" y="36566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160" name="Straight Arrow Connector 8"/>
          <p:cNvCxnSpPr>
            <a:stCxn id="159" idx="0"/>
            <a:endCxn id="156" idx="0"/>
          </p:cNvCxnSpPr>
          <p:nvPr/>
        </p:nvCxnSpPr>
        <p:spPr>
          <a:xfrm flipH="1" flipV="1">
            <a:off x="1107461" y="2516115"/>
            <a:ext cx="1130745" cy="1391401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61" name="Straight Arrow Connector 9"/>
          <p:cNvCxnSpPr>
            <a:stCxn id="159" idx="0"/>
            <a:endCxn id="157" idx="0"/>
          </p:cNvCxnSpPr>
          <p:nvPr/>
        </p:nvCxnSpPr>
        <p:spPr>
          <a:xfrm flipV="1">
            <a:off x="2238205" y="2516115"/>
            <a:ext cx="8556" cy="1391401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62" name="Straight Arrow Connector 10"/>
          <p:cNvCxnSpPr>
            <a:stCxn id="159" idx="0"/>
            <a:endCxn id="158" idx="0"/>
          </p:cNvCxnSpPr>
          <p:nvPr/>
        </p:nvCxnSpPr>
        <p:spPr>
          <a:xfrm flipV="1">
            <a:off x="2238205" y="2516115"/>
            <a:ext cx="1187812" cy="1391401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163" name="TextBox 2"/>
          <p:cNvSpPr txBox="1"/>
          <p:nvPr/>
        </p:nvSpPr>
        <p:spPr>
          <a:xfrm>
            <a:off x="3830006" y="3352381"/>
            <a:ext cx="1831443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FF0000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Änderungen</a:t>
            </a:r>
          </a:p>
        </p:txBody>
      </p:sp>
      <p:sp>
        <p:nvSpPr>
          <p:cNvPr id="164" name="Straight Arrow Connector 4"/>
          <p:cNvSpPr/>
          <p:nvPr/>
        </p:nvSpPr>
        <p:spPr>
          <a:xfrm flipV="1">
            <a:off x="4761478" y="2702330"/>
            <a:ext cx="1" cy="780293"/>
          </a:xfrm>
          <a:prstGeom prst="line">
            <a:avLst/>
          </a:prstGeom>
          <a:ln w="50800">
            <a:solidFill>
              <a:srgbClr val="FF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" name="TextBox 11"/>
          <p:cNvSpPr txBox="1"/>
          <p:nvPr/>
        </p:nvSpPr>
        <p:spPr>
          <a:xfrm>
            <a:off x="1412423" y="219372"/>
            <a:ext cx="6319154" cy="161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Typische Struktur von</a:t>
            </a:r>
          </a:p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Abhängigkeiten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Oval 18"/>
          <p:cNvSpPr/>
          <p:nvPr/>
        </p:nvSpPr>
        <p:spPr>
          <a:xfrm>
            <a:off x="840968" y="22652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Oval 19"/>
          <p:cNvSpPr/>
          <p:nvPr/>
        </p:nvSpPr>
        <p:spPr>
          <a:xfrm>
            <a:off x="1980266" y="22652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Oval 20"/>
          <p:cNvSpPr/>
          <p:nvPr/>
        </p:nvSpPr>
        <p:spPr>
          <a:xfrm>
            <a:off x="3159524" y="22652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Oval 21"/>
          <p:cNvSpPr/>
          <p:nvPr/>
        </p:nvSpPr>
        <p:spPr>
          <a:xfrm>
            <a:off x="1971712" y="36566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171" name="Straight Arrow Connector 8"/>
          <p:cNvCxnSpPr>
            <a:stCxn id="170" idx="0"/>
            <a:endCxn id="167" idx="0"/>
          </p:cNvCxnSpPr>
          <p:nvPr/>
        </p:nvCxnSpPr>
        <p:spPr>
          <a:xfrm flipH="1" flipV="1">
            <a:off x="1099650" y="2516115"/>
            <a:ext cx="1130745" cy="1391401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72" name="Straight Arrow Connector 9"/>
          <p:cNvCxnSpPr>
            <a:stCxn id="170" idx="0"/>
            <a:endCxn id="168" idx="0"/>
          </p:cNvCxnSpPr>
          <p:nvPr/>
        </p:nvCxnSpPr>
        <p:spPr>
          <a:xfrm flipV="1">
            <a:off x="2230394" y="2516115"/>
            <a:ext cx="8555" cy="1391401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73" name="Straight Arrow Connector 10"/>
          <p:cNvCxnSpPr>
            <a:stCxn id="170" idx="0"/>
            <a:endCxn id="169" idx="0"/>
          </p:cNvCxnSpPr>
          <p:nvPr/>
        </p:nvCxnSpPr>
        <p:spPr>
          <a:xfrm flipV="1">
            <a:off x="2230394" y="2516115"/>
            <a:ext cx="1187813" cy="1391401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174" name="Oval 11"/>
          <p:cNvSpPr/>
          <p:nvPr/>
        </p:nvSpPr>
        <p:spPr>
          <a:xfrm>
            <a:off x="5272878" y="22652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Oval 12"/>
          <p:cNvSpPr/>
          <p:nvPr/>
        </p:nvSpPr>
        <p:spPr>
          <a:xfrm>
            <a:off x="6412177" y="22652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Oval 13"/>
          <p:cNvSpPr/>
          <p:nvPr/>
        </p:nvSpPr>
        <p:spPr>
          <a:xfrm>
            <a:off x="7591435" y="2265236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177" name="Straight Arrow Connector 15"/>
          <p:cNvCxnSpPr>
            <a:stCxn id="182" idx="0"/>
            <a:endCxn id="174" idx="0"/>
          </p:cNvCxnSpPr>
          <p:nvPr/>
        </p:nvCxnSpPr>
        <p:spPr>
          <a:xfrm flipH="1" flipV="1">
            <a:off x="5531560" y="2516115"/>
            <a:ext cx="1119733" cy="12473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78" name="Straight Arrow Connector 16"/>
          <p:cNvCxnSpPr>
            <a:stCxn id="182" idx="0"/>
            <a:endCxn id="175" idx="0"/>
          </p:cNvCxnSpPr>
          <p:nvPr/>
        </p:nvCxnSpPr>
        <p:spPr>
          <a:xfrm flipV="1">
            <a:off x="6651292" y="2516115"/>
            <a:ext cx="19568" cy="12473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79" name="Straight Arrow Connector 17"/>
          <p:cNvCxnSpPr>
            <a:stCxn id="182" idx="0"/>
            <a:endCxn id="176" idx="0"/>
          </p:cNvCxnSpPr>
          <p:nvPr/>
        </p:nvCxnSpPr>
        <p:spPr>
          <a:xfrm flipV="1">
            <a:off x="6651292" y="2516115"/>
            <a:ext cx="1198826" cy="12473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180" name="TextBox 6"/>
          <p:cNvSpPr txBox="1"/>
          <p:nvPr/>
        </p:nvSpPr>
        <p:spPr>
          <a:xfrm>
            <a:off x="4187181" y="2887195"/>
            <a:ext cx="660758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400"/>
            </a:lvl1pPr>
          </a:lstStyle>
          <a:p>
            <a:pPr/>
            <a:r>
              <a:t>=&gt;</a:t>
            </a:r>
          </a:p>
        </p:txBody>
      </p:sp>
      <p:sp>
        <p:nvSpPr>
          <p:cNvPr id="181" name="TextBox 27"/>
          <p:cNvSpPr txBox="1"/>
          <p:nvPr/>
        </p:nvSpPr>
        <p:spPr>
          <a:xfrm>
            <a:off x="5334339" y="4036026"/>
            <a:ext cx="3496920" cy="98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Keine Domänenlogik,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nur Daten</a:t>
            </a:r>
          </a:p>
        </p:txBody>
      </p:sp>
      <p:sp>
        <p:nvSpPr>
          <p:cNvPr id="182" name="Oval 14"/>
          <p:cNvSpPr/>
          <p:nvPr/>
        </p:nvSpPr>
        <p:spPr>
          <a:xfrm>
            <a:off x="6537242" y="3656636"/>
            <a:ext cx="228101" cy="2137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22"/>
          <p:cNvSpPr txBox="1"/>
          <p:nvPr/>
        </p:nvSpPr>
        <p:spPr>
          <a:xfrm>
            <a:off x="1412423" y="219372"/>
            <a:ext cx="6319154" cy="161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Typische Struktur von</a:t>
            </a:r>
          </a:p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Abhängigkeiten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3"/>
          <p:cNvSpPr txBox="1"/>
          <p:nvPr/>
        </p:nvSpPr>
        <p:spPr>
          <a:xfrm>
            <a:off x="1446009" y="1824395"/>
            <a:ext cx="6251983" cy="148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0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Logik</a:t>
            </a:r>
            <a:r>
              <a:rPr>
                <a:solidFill>
                  <a:srgbClr val="000000"/>
                </a:solidFill>
              </a:rPr>
              <a:t>, die das </a:t>
            </a:r>
            <a:r>
              <a:t>Thema</a:t>
            </a:r>
            <a:br/>
            <a:r>
              <a:rPr>
                <a:solidFill>
                  <a:srgbClr val="000000"/>
                </a:solidFill>
              </a:rPr>
              <a:t>der </a:t>
            </a:r>
            <a:r>
              <a:t>Anwendung </a:t>
            </a:r>
            <a:r>
              <a:rPr>
                <a:solidFill>
                  <a:srgbClr val="000000"/>
                </a:solidFill>
              </a:rPr>
              <a:t>betrifft.</a:t>
            </a:r>
          </a:p>
        </p:txBody>
      </p:sp>
      <p:sp>
        <p:nvSpPr>
          <p:cNvPr id="186" name="TextBox 4"/>
          <p:cNvSpPr txBox="1"/>
          <p:nvPr/>
        </p:nvSpPr>
        <p:spPr>
          <a:xfrm>
            <a:off x="2078944" y="614479"/>
            <a:ext cx="4986113" cy="1031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5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Domänenlogik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Oval 3"/>
          <p:cNvSpPr/>
          <p:nvPr/>
        </p:nvSpPr>
        <p:spPr>
          <a:xfrm>
            <a:off x="1980266" y="2475510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Oval 4"/>
          <p:cNvSpPr/>
          <p:nvPr/>
        </p:nvSpPr>
        <p:spPr>
          <a:xfrm>
            <a:off x="3266673" y="363390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Oval 5"/>
          <p:cNvSpPr/>
          <p:nvPr/>
        </p:nvSpPr>
        <p:spPr>
          <a:xfrm>
            <a:off x="1980266" y="363390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Oval 6"/>
          <p:cNvSpPr/>
          <p:nvPr/>
        </p:nvSpPr>
        <p:spPr>
          <a:xfrm>
            <a:off x="658053" y="363390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192" name="Straight Arrow Connector 8"/>
          <p:cNvCxnSpPr>
            <a:stCxn id="188" idx="0"/>
            <a:endCxn id="191" idx="0"/>
          </p:cNvCxnSpPr>
          <p:nvPr/>
        </p:nvCxnSpPr>
        <p:spPr>
          <a:xfrm flipH="1">
            <a:off x="916735" y="2726389"/>
            <a:ext cx="1322214" cy="115839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93" name="Straight Arrow Connector 9"/>
          <p:cNvCxnSpPr>
            <a:stCxn id="188" idx="0"/>
            <a:endCxn id="190" idx="0"/>
          </p:cNvCxnSpPr>
          <p:nvPr/>
        </p:nvCxnSpPr>
        <p:spPr>
          <a:xfrm>
            <a:off x="2238948" y="2726389"/>
            <a:ext cx="1" cy="115839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194" name="Straight Arrow Connector 10"/>
          <p:cNvCxnSpPr>
            <a:stCxn id="188" idx="0"/>
            <a:endCxn id="189" idx="0"/>
          </p:cNvCxnSpPr>
          <p:nvPr/>
        </p:nvCxnSpPr>
        <p:spPr>
          <a:xfrm>
            <a:off x="2238948" y="2726389"/>
            <a:ext cx="1286408" cy="115839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195" name="TextBox 11"/>
          <p:cNvSpPr txBox="1"/>
          <p:nvPr/>
        </p:nvSpPr>
        <p:spPr>
          <a:xfrm>
            <a:off x="1412423" y="219372"/>
            <a:ext cx="6319154" cy="161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Typische Struktur von</a:t>
            </a:r>
          </a:p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Abhängigkeiten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Oval 3"/>
          <p:cNvSpPr/>
          <p:nvPr/>
        </p:nvSpPr>
        <p:spPr>
          <a:xfrm>
            <a:off x="1980266" y="2475510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Oval 4"/>
          <p:cNvSpPr/>
          <p:nvPr/>
        </p:nvSpPr>
        <p:spPr>
          <a:xfrm>
            <a:off x="3266673" y="363390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Oval 5"/>
          <p:cNvSpPr/>
          <p:nvPr/>
        </p:nvSpPr>
        <p:spPr>
          <a:xfrm>
            <a:off x="1980266" y="363390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Oval 6"/>
          <p:cNvSpPr/>
          <p:nvPr/>
        </p:nvSpPr>
        <p:spPr>
          <a:xfrm>
            <a:off x="658053" y="363390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01" name="Straight Arrow Connector 8"/>
          <p:cNvCxnSpPr>
            <a:stCxn id="197" idx="0"/>
            <a:endCxn id="200" idx="0"/>
          </p:cNvCxnSpPr>
          <p:nvPr/>
        </p:nvCxnSpPr>
        <p:spPr>
          <a:xfrm flipH="1">
            <a:off x="916735" y="2726389"/>
            <a:ext cx="1322214" cy="115839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02" name="Straight Arrow Connector 9"/>
          <p:cNvCxnSpPr>
            <a:stCxn id="197" idx="0"/>
            <a:endCxn id="199" idx="0"/>
          </p:cNvCxnSpPr>
          <p:nvPr/>
        </p:nvCxnSpPr>
        <p:spPr>
          <a:xfrm>
            <a:off x="2238948" y="2726389"/>
            <a:ext cx="1" cy="115839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03" name="Straight Arrow Connector 10"/>
          <p:cNvCxnSpPr>
            <a:stCxn id="197" idx="0"/>
            <a:endCxn id="198" idx="0"/>
          </p:cNvCxnSpPr>
          <p:nvPr/>
        </p:nvCxnSpPr>
        <p:spPr>
          <a:xfrm>
            <a:off x="2238948" y="2726389"/>
            <a:ext cx="1286408" cy="115839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04" name="TextBox 11"/>
          <p:cNvSpPr txBox="1"/>
          <p:nvPr/>
        </p:nvSpPr>
        <p:spPr>
          <a:xfrm>
            <a:off x="3989750" y="3633908"/>
            <a:ext cx="1831442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FF0000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Änderungen</a:t>
            </a:r>
          </a:p>
        </p:txBody>
      </p:sp>
      <p:sp>
        <p:nvSpPr>
          <p:cNvPr id="205" name="Straight Arrow Connector 12"/>
          <p:cNvSpPr/>
          <p:nvPr/>
        </p:nvSpPr>
        <p:spPr>
          <a:xfrm flipV="1">
            <a:off x="4919324" y="2961793"/>
            <a:ext cx="1" cy="780293"/>
          </a:xfrm>
          <a:prstGeom prst="line">
            <a:avLst/>
          </a:prstGeom>
          <a:ln w="50800">
            <a:solidFill>
              <a:srgbClr val="FF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" name="TextBox 13"/>
          <p:cNvSpPr txBox="1"/>
          <p:nvPr/>
        </p:nvSpPr>
        <p:spPr>
          <a:xfrm>
            <a:off x="1412423" y="219372"/>
            <a:ext cx="6319154" cy="161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Typische Struktur von</a:t>
            </a:r>
          </a:p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Abhängigkeiten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Oval 3"/>
          <p:cNvSpPr/>
          <p:nvPr/>
        </p:nvSpPr>
        <p:spPr>
          <a:xfrm>
            <a:off x="1980266" y="2475510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Oval 4"/>
          <p:cNvSpPr/>
          <p:nvPr/>
        </p:nvSpPr>
        <p:spPr>
          <a:xfrm>
            <a:off x="3266673" y="363390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Oval 5"/>
          <p:cNvSpPr/>
          <p:nvPr/>
        </p:nvSpPr>
        <p:spPr>
          <a:xfrm>
            <a:off x="1980266" y="363390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Oval 6"/>
          <p:cNvSpPr/>
          <p:nvPr/>
        </p:nvSpPr>
        <p:spPr>
          <a:xfrm>
            <a:off x="658053" y="363390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12" name="Straight Arrow Connector 8"/>
          <p:cNvCxnSpPr>
            <a:stCxn id="208" idx="0"/>
            <a:endCxn id="211" idx="0"/>
          </p:cNvCxnSpPr>
          <p:nvPr/>
        </p:nvCxnSpPr>
        <p:spPr>
          <a:xfrm flipH="1">
            <a:off x="916735" y="2726389"/>
            <a:ext cx="1322214" cy="115839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13" name="Straight Arrow Connector 9"/>
          <p:cNvCxnSpPr>
            <a:stCxn id="208" idx="0"/>
            <a:endCxn id="210" idx="0"/>
          </p:cNvCxnSpPr>
          <p:nvPr/>
        </p:nvCxnSpPr>
        <p:spPr>
          <a:xfrm>
            <a:off x="2238948" y="2726389"/>
            <a:ext cx="1" cy="115839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14" name="Straight Arrow Connector 10"/>
          <p:cNvCxnSpPr>
            <a:stCxn id="208" idx="0"/>
            <a:endCxn id="209" idx="0"/>
          </p:cNvCxnSpPr>
          <p:nvPr/>
        </p:nvCxnSpPr>
        <p:spPr>
          <a:xfrm>
            <a:off x="2238948" y="2726389"/>
            <a:ext cx="1286408" cy="115839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15" name="Oval 11"/>
          <p:cNvSpPr/>
          <p:nvPr/>
        </p:nvSpPr>
        <p:spPr>
          <a:xfrm>
            <a:off x="6604941" y="2887195"/>
            <a:ext cx="208673" cy="20385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Oval 12"/>
          <p:cNvSpPr/>
          <p:nvPr/>
        </p:nvSpPr>
        <p:spPr>
          <a:xfrm>
            <a:off x="7739998" y="363390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Oval 13"/>
          <p:cNvSpPr/>
          <p:nvPr/>
        </p:nvSpPr>
        <p:spPr>
          <a:xfrm>
            <a:off x="6453590" y="363390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Oval 14"/>
          <p:cNvSpPr/>
          <p:nvPr/>
        </p:nvSpPr>
        <p:spPr>
          <a:xfrm>
            <a:off x="5131377" y="363390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19" name="Straight Arrow Connector 15"/>
          <p:cNvCxnSpPr>
            <a:stCxn id="215" idx="0"/>
            <a:endCxn id="218" idx="0"/>
          </p:cNvCxnSpPr>
          <p:nvPr/>
        </p:nvCxnSpPr>
        <p:spPr>
          <a:xfrm flipH="1">
            <a:off x="5390059" y="2989121"/>
            <a:ext cx="1319219" cy="89566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20" name="Straight Arrow Connector 16"/>
          <p:cNvCxnSpPr>
            <a:stCxn id="215" idx="0"/>
            <a:endCxn id="217" idx="0"/>
          </p:cNvCxnSpPr>
          <p:nvPr/>
        </p:nvCxnSpPr>
        <p:spPr>
          <a:xfrm>
            <a:off x="6709277" y="2989121"/>
            <a:ext cx="2996" cy="89566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21" name="Straight Arrow Connector 17"/>
          <p:cNvCxnSpPr>
            <a:stCxn id="215" idx="0"/>
            <a:endCxn id="216" idx="0"/>
          </p:cNvCxnSpPr>
          <p:nvPr/>
        </p:nvCxnSpPr>
        <p:spPr>
          <a:xfrm>
            <a:off x="6709277" y="2989121"/>
            <a:ext cx="1289404" cy="89566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22" name="TextBox 18"/>
          <p:cNvSpPr txBox="1"/>
          <p:nvPr/>
        </p:nvSpPr>
        <p:spPr>
          <a:xfrm>
            <a:off x="4187181" y="2887195"/>
            <a:ext cx="660758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400"/>
            </a:lvl1pPr>
          </a:lstStyle>
          <a:p>
            <a:pPr/>
            <a:r>
              <a:t>=&gt;</a:t>
            </a:r>
          </a:p>
        </p:txBody>
      </p:sp>
      <p:sp>
        <p:nvSpPr>
          <p:cNvPr id="223" name="TextBox 19"/>
          <p:cNvSpPr txBox="1"/>
          <p:nvPr/>
        </p:nvSpPr>
        <p:spPr>
          <a:xfrm>
            <a:off x="5375752" y="1710684"/>
            <a:ext cx="3496920" cy="98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Keine Domänenlogik,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nur Integration</a:t>
            </a:r>
          </a:p>
        </p:txBody>
      </p:sp>
      <p:sp>
        <p:nvSpPr>
          <p:cNvPr id="224" name="TextBox 20"/>
          <p:cNvSpPr txBox="1"/>
          <p:nvPr/>
        </p:nvSpPr>
        <p:spPr>
          <a:xfrm>
            <a:off x="1412423" y="219372"/>
            <a:ext cx="6319154" cy="161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Typische Struktur von</a:t>
            </a:r>
          </a:p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Abhängigkeiten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Oval 3"/>
          <p:cNvSpPr/>
          <p:nvPr/>
        </p:nvSpPr>
        <p:spPr>
          <a:xfrm>
            <a:off x="3207927" y="131711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Oval 4"/>
          <p:cNvSpPr/>
          <p:nvPr/>
        </p:nvSpPr>
        <p:spPr>
          <a:xfrm>
            <a:off x="4494333" y="2475510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Oval 5"/>
          <p:cNvSpPr/>
          <p:nvPr/>
        </p:nvSpPr>
        <p:spPr>
          <a:xfrm>
            <a:off x="3207927" y="2475510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Oval 6"/>
          <p:cNvSpPr/>
          <p:nvPr/>
        </p:nvSpPr>
        <p:spPr>
          <a:xfrm>
            <a:off x="1885712" y="2475510"/>
            <a:ext cx="517366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30" name="Straight Arrow Connector 8"/>
          <p:cNvCxnSpPr>
            <a:stCxn id="226" idx="0"/>
            <a:endCxn id="229" idx="0"/>
          </p:cNvCxnSpPr>
          <p:nvPr/>
        </p:nvCxnSpPr>
        <p:spPr>
          <a:xfrm flipH="1">
            <a:off x="2144395" y="1567992"/>
            <a:ext cx="1322215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31" name="Straight Arrow Connector 9"/>
          <p:cNvCxnSpPr>
            <a:stCxn id="226" idx="0"/>
            <a:endCxn id="228" idx="0"/>
          </p:cNvCxnSpPr>
          <p:nvPr/>
        </p:nvCxnSpPr>
        <p:spPr>
          <a:xfrm>
            <a:off x="3466609" y="1567992"/>
            <a:ext cx="1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32" name="Straight Arrow Connector 10"/>
          <p:cNvCxnSpPr>
            <a:stCxn id="226" idx="0"/>
            <a:endCxn id="227" idx="0"/>
          </p:cNvCxnSpPr>
          <p:nvPr/>
        </p:nvCxnSpPr>
        <p:spPr>
          <a:xfrm>
            <a:off x="3466609" y="1567992"/>
            <a:ext cx="1286407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33" name="Oval 19"/>
          <p:cNvSpPr/>
          <p:nvPr/>
        </p:nvSpPr>
        <p:spPr>
          <a:xfrm>
            <a:off x="1885712" y="3758781"/>
            <a:ext cx="517366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Oval 20"/>
          <p:cNvSpPr/>
          <p:nvPr/>
        </p:nvSpPr>
        <p:spPr>
          <a:xfrm>
            <a:off x="3132160" y="491717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Oval 21"/>
          <p:cNvSpPr/>
          <p:nvPr/>
        </p:nvSpPr>
        <p:spPr>
          <a:xfrm>
            <a:off x="1885712" y="4917178"/>
            <a:ext cx="517366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Oval 22"/>
          <p:cNvSpPr/>
          <p:nvPr/>
        </p:nvSpPr>
        <p:spPr>
          <a:xfrm>
            <a:off x="610607" y="491717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37" name="Straight Arrow Connector 23"/>
          <p:cNvCxnSpPr>
            <a:stCxn id="233" idx="0"/>
            <a:endCxn id="236" idx="0"/>
          </p:cNvCxnSpPr>
          <p:nvPr/>
        </p:nvCxnSpPr>
        <p:spPr>
          <a:xfrm flipH="1">
            <a:off x="869289" y="4009660"/>
            <a:ext cx="1275107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38" name="Straight Arrow Connector 24"/>
          <p:cNvCxnSpPr>
            <a:stCxn id="233" idx="0"/>
            <a:endCxn id="235" idx="0"/>
          </p:cNvCxnSpPr>
          <p:nvPr/>
        </p:nvCxnSpPr>
        <p:spPr>
          <a:xfrm>
            <a:off x="2144395" y="4009660"/>
            <a:ext cx="1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39" name="Straight Arrow Connector 25"/>
          <p:cNvCxnSpPr>
            <a:stCxn id="233" idx="0"/>
            <a:endCxn id="234" idx="0"/>
          </p:cNvCxnSpPr>
          <p:nvPr/>
        </p:nvCxnSpPr>
        <p:spPr>
          <a:xfrm>
            <a:off x="2144395" y="4009660"/>
            <a:ext cx="1246448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40" name="Oval 26"/>
          <p:cNvSpPr/>
          <p:nvPr/>
        </p:nvSpPr>
        <p:spPr>
          <a:xfrm>
            <a:off x="427647" y="3685299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41" name="Straight Arrow Connector 27"/>
          <p:cNvCxnSpPr>
            <a:stCxn id="229" idx="0"/>
            <a:endCxn id="240" idx="0"/>
          </p:cNvCxnSpPr>
          <p:nvPr/>
        </p:nvCxnSpPr>
        <p:spPr>
          <a:xfrm flipH="1">
            <a:off x="686329" y="2726389"/>
            <a:ext cx="1458067" cy="1209790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42" name="Straight Arrow Connector 30"/>
          <p:cNvCxnSpPr>
            <a:stCxn id="229" idx="0"/>
            <a:endCxn id="233" idx="0"/>
          </p:cNvCxnSpPr>
          <p:nvPr/>
        </p:nvCxnSpPr>
        <p:spPr>
          <a:xfrm>
            <a:off x="2144395" y="2726389"/>
            <a:ext cx="1" cy="1283272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43" name="Oval 33"/>
          <p:cNvSpPr/>
          <p:nvPr/>
        </p:nvSpPr>
        <p:spPr>
          <a:xfrm>
            <a:off x="5838235" y="3685299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Oval 34"/>
          <p:cNvSpPr/>
          <p:nvPr/>
        </p:nvSpPr>
        <p:spPr>
          <a:xfrm>
            <a:off x="4494333" y="3685299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45" name="Straight Arrow Connector 35"/>
          <p:cNvCxnSpPr>
            <a:stCxn id="227" idx="0"/>
            <a:endCxn id="244" idx="0"/>
          </p:cNvCxnSpPr>
          <p:nvPr/>
        </p:nvCxnSpPr>
        <p:spPr>
          <a:xfrm>
            <a:off x="4753015" y="2726389"/>
            <a:ext cx="1" cy="1209790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46" name="Straight Arrow Connector 36"/>
          <p:cNvCxnSpPr>
            <a:stCxn id="227" idx="0"/>
            <a:endCxn id="243" idx="0"/>
          </p:cNvCxnSpPr>
          <p:nvPr/>
        </p:nvCxnSpPr>
        <p:spPr>
          <a:xfrm>
            <a:off x="4753015" y="2726389"/>
            <a:ext cx="1343903" cy="1209790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47" name="TextBox 29"/>
          <p:cNvSpPr txBox="1"/>
          <p:nvPr/>
        </p:nvSpPr>
        <p:spPr>
          <a:xfrm>
            <a:off x="4798736" y="501824"/>
            <a:ext cx="3066316" cy="105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Integrationstests</a:t>
            </a:r>
          </a:p>
          <a:p>
            <a:pPr>
              <a:defRPr sz="28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erforderlich!!!</a:t>
            </a:r>
          </a:p>
        </p:txBody>
      </p:sp>
      <p:sp>
        <p:nvSpPr>
          <p:cNvPr id="248" name="Straight Arrow Connector 2"/>
          <p:cNvSpPr/>
          <p:nvPr/>
        </p:nvSpPr>
        <p:spPr>
          <a:xfrm flipH="1">
            <a:off x="3887630" y="1003581"/>
            <a:ext cx="682471" cy="417416"/>
          </a:xfrm>
          <a:prstGeom prst="line">
            <a:avLst/>
          </a:prstGeom>
          <a:ln w="76200">
            <a:solidFill>
              <a:srgbClr val="FF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Oval 3"/>
          <p:cNvSpPr/>
          <p:nvPr/>
        </p:nvSpPr>
        <p:spPr>
          <a:xfrm>
            <a:off x="4303536" y="815357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Oval 4"/>
          <p:cNvSpPr/>
          <p:nvPr/>
        </p:nvSpPr>
        <p:spPr>
          <a:xfrm>
            <a:off x="5589942" y="197375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Oval 5"/>
          <p:cNvSpPr/>
          <p:nvPr/>
        </p:nvSpPr>
        <p:spPr>
          <a:xfrm>
            <a:off x="4303536" y="197375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Oval 6"/>
          <p:cNvSpPr/>
          <p:nvPr/>
        </p:nvSpPr>
        <p:spPr>
          <a:xfrm>
            <a:off x="2981322" y="197375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54" name="Straight Arrow Connector 8"/>
          <p:cNvCxnSpPr>
            <a:stCxn id="250" idx="0"/>
            <a:endCxn id="253" idx="0"/>
          </p:cNvCxnSpPr>
          <p:nvPr/>
        </p:nvCxnSpPr>
        <p:spPr>
          <a:xfrm flipH="1">
            <a:off x="3240004" y="1066236"/>
            <a:ext cx="1322215" cy="115839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55" name="Straight Arrow Connector 9"/>
          <p:cNvCxnSpPr>
            <a:stCxn id="250" idx="0"/>
            <a:endCxn id="252" idx="0"/>
          </p:cNvCxnSpPr>
          <p:nvPr/>
        </p:nvCxnSpPr>
        <p:spPr>
          <a:xfrm>
            <a:off x="4562218" y="1066236"/>
            <a:ext cx="1" cy="115839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56" name="Straight Arrow Connector 10"/>
          <p:cNvCxnSpPr>
            <a:stCxn id="250" idx="0"/>
            <a:endCxn id="251" idx="0"/>
          </p:cNvCxnSpPr>
          <p:nvPr/>
        </p:nvCxnSpPr>
        <p:spPr>
          <a:xfrm>
            <a:off x="4562218" y="1066236"/>
            <a:ext cx="1286407" cy="115839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57" name="Oval 19"/>
          <p:cNvSpPr/>
          <p:nvPr/>
        </p:nvSpPr>
        <p:spPr>
          <a:xfrm>
            <a:off x="2981322" y="3257024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Oval 20"/>
          <p:cNvSpPr/>
          <p:nvPr/>
        </p:nvSpPr>
        <p:spPr>
          <a:xfrm>
            <a:off x="4227769" y="4415421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Oval 21"/>
          <p:cNvSpPr/>
          <p:nvPr/>
        </p:nvSpPr>
        <p:spPr>
          <a:xfrm>
            <a:off x="2981322" y="4415421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Oval 22"/>
          <p:cNvSpPr/>
          <p:nvPr/>
        </p:nvSpPr>
        <p:spPr>
          <a:xfrm>
            <a:off x="1706216" y="4415421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61" name="Straight Arrow Connector 23"/>
          <p:cNvCxnSpPr>
            <a:stCxn id="257" idx="0"/>
            <a:endCxn id="260" idx="0"/>
          </p:cNvCxnSpPr>
          <p:nvPr/>
        </p:nvCxnSpPr>
        <p:spPr>
          <a:xfrm flipH="1">
            <a:off x="1964898" y="3507903"/>
            <a:ext cx="1275107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62" name="Straight Arrow Connector 24"/>
          <p:cNvCxnSpPr>
            <a:stCxn id="257" idx="0"/>
            <a:endCxn id="259" idx="0"/>
          </p:cNvCxnSpPr>
          <p:nvPr/>
        </p:nvCxnSpPr>
        <p:spPr>
          <a:xfrm>
            <a:off x="3240004" y="3507903"/>
            <a:ext cx="1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63" name="Straight Arrow Connector 25"/>
          <p:cNvCxnSpPr>
            <a:stCxn id="257" idx="0"/>
            <a:endCxn id="258" idx="0"/>
          </p:cNvCxnSpPr>
          <p:nvPr/>
        </p:nvCxnSpPr>
        <p:spPr>
          <a:xfrm>
            <a:off x="3240004" y="3507903"/>
            <a:ext cx="1246448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64" name="Oval 26"/>
          <p:cNvSpPr/>
          <p:nvPr/>
        </p:nvSpPr>
        <p:spPr>
          <a:xfrm>
            <a:off x="1523255" y="318354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65" name="Straight Arrow Connector 27"/>
          <p:cNvCxnSpPr>
            <a:stCxn id="253" idx="0"/>
            <a:endCxn id="264" idx="0"/>
          </p:cNvCxnSpPr>
          <p:nvPr/>
        </p:nvCxnSpPr>
        <p:spPr>
          <a:xfrm flipH="1">
            <a:off x="1781937" y="2224632"/>
            <a:ext cx="1458068" cy="1209791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66" name="Straight Arrow Connector 30"/>
          <p:cNvCxnSpPr>
            <a:stCxn id="253" idx="0"/>
            <a:endCxn id="257" idx="0"/>
          </p:cNvCxnSpPr>
          <p:nvPr/>
        </p:nvCxnSpPr>
        <p:spPr>
          <a:xfrm>
            <a:off x="3240004" y="2224632"/>
            <a:ext cx="1" cy="1283272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67" name="Oval 33"/>
          <p:cNvSpPr/>
          <p:nvPr/>
        </p:nvSpPr>
        <p:spPr>
          <a:xfrm>
            <a:off x="6933844" y="318354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Oval 34"/>
          <p:cNvSpPr/>
          <p:nvPr/>
        </p:nvSpPr>
        <p:spPr>
          <a:xfrm>
            <a:off x="5589942" y="318354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69" name="Straight Arrow Connector 35"/>
          <p:cNvCxnSpPr>
            <a:stCxn id="251" idx="0"/>
            <a:endCxn id="268" idx="0"/>
          </p:cNvCxnSpPr>
          <p:nvPr/>
        </p:nvCxnSpPr>
        <p:spPr>
          <a:xfrm>
            <a:off x="5848624" y="2224632"/>
            <a:ext cx="1" cy="1209791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70" name="Straight Arrow Connector 36"/>
          <p:cNvCxnSpPr>
            <a:stCxn id="251" idx="0"/>
            <a:endCxn id="267" idx="0"/>
          </p:cNvCxnSpPr>
          <p:nvPr/>
        </p:nvCxnSpPr>
        <p:spPr>
          <a:xfrm>
            <a:off x="5848624" y="2224632"/>
            <a:ext cx="1343903" cy="1209791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Oval 3"/>
          <p:cNvSpPr/>
          <p:nvPr/>
        </p:nvSpPr>
        <p:spPr>
          <a:xfrm>
            <a:off x="4303536" y="815357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Oval 4"/>
          <p:cNvSpPr/>
          <p:nvPr/>
        </p:nvSpPr>
        <p:spPr>
          <a:xfrm>
            <a:off x="5589942" y="197375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Oval 5"/>
          <p:cNvSpPr/>
          <p:nvPr/>
        </p:nvSpPr>
        <p:spPr>
          <a:xfrm>
            <a:off x="4303536" y="1973753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Oval 6"/>
          <p:cNvSpPr/>
          <p:nvPr/>
        </p:nvSpPr>
        <p:spPr>
          <a:xfrm>
            <a:off x="2981322" y="197375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76" name="Straight Arrow Connector 8"/>
          <p:cNvCxnSpPr>
            <a:stCxn id="272" idx="0"/>
            <a:endCxn id="275" idx="0"/>
          </p:cNvCxnSpPr>
          <p:nvPr/>
        </p:nvCxnSpPr>
        <p:spPr>
          <a:xfrm flipH="1">
            <a:off x="3240004" y="1066236"/>
            <a:ext cx="1322215" cy="115839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77" name="Straight Arrow Connector 9"/>
          <p:cNvCxnSpPr>
            <a:stCxn id="272" idx="0"/>
            <a:endCxn id="274" idx="0"/>
          </p:cNvCxnSpPr>
          <p:nvPr/>
        </p:nvCxnSpPr>
        <p:spPr>
          <a:xfrm>
            <a:off x="4562218" y="1066236"/>
            <a:ext cx="1" cy="115839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78" name="Straight Arrow Connector 10"/>
          <p:cNvCxnSpPr>
            <a:stCxn id="272" idx="0"/>
            <a:endCxn id="273" idx="0"/>
          </p:cNvCxnSpPr>
          <p:nvPr/>
        </p:nvCxnSpPr>
        <p:spPr>
          <a:xfrm>
            <a:off x="4562218" y="1066236"/>
            <a:ext cx="1286407" cy="115839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79" name="Oval 19"/>
          <p:cNvSpPr/>
          <p:nvPr/>
        </p:nvSpPr>
        <p:spPr>
          <a:xfrm>
            <a:off x="2981322" y="3257024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Oval 20"/>
          <p:cNvSpPr/>
          <p:nvPr/>
        </p:nvSpPr>
        <p:spPr>
          <a:xfrm>
            <a:off x="4227769" y="4415421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Oval 21"/>
          <p:cNvSpPr/>
          <p:nvPr/>
        </p:nvSpPr>
        <p:spPr>
          <a:xfrm>
            <a:off x="2981322" y="4415421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Oval 22"/>
          <p:cNvSpPr/>
          <p:nvPr/>
        </p:nvSpPr>
        <p:spPr>
          <a:xfrm>
            <a:off x="1706216" y="4415421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83" name="Straight Arrow Connector 23"/>
          <p:cNvCxnSpPr>
            <a:stCxn id="279" idx="0"/>
            <a:endCxn id="282" idx="0"/>
          </p:cNvCxnSpPr>
          <p:nvPr/>
        </p:nvCxnSpPr>
        <p:spPr>
          <a:xfrm flipH="1">
            <a:off x="1964898" y="3507903"/>
            <a:ext cx="1275107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84" name="Straight Arrow Connector 24"/>
          <p:cNvCxnSpPr>
            <a:stCxn id="279" idx="0"/>
            <a:endCxn id="281" idx="0"/>
          </p:cNvCxnSpPr>
          <p:nvPr/>
        </p:nvCxnSpPr>
        <p:spPr>
          <a:xfrm>
            <a:off x="3240004" y="3507903"/>
            <a:ext cx="1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85" name="Straight Arrow Connector 25"/>
          <p:cNvCxnSpPr>
            <a:stCxn id="279" idx="0"/>
            <a:endCxn id="280" idx="0"/>
          </p:cNvCxnSpPr>
          <p:nvPr/>
        </p:nvCxnSpPr>
        <p:spPr>
          <a:xfrm>
            <a:off x="3240004" y="3507903"/>
            <a:ext cx="1246448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86" name="Oval 26"/>
          <p:cNvSpPr/>
          <p:nvPr/>
        </p:nvSpPr>
        <p:spPr>
          <a:xfrm>
            <a:off x="1523255" y="3183543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87" name="Straight Arrow Connector 27"/>
          <p:cNvCxnSpPr>
            <a:stCxn id="275" idx="0"/>
            <a:endCxn id="286" idx="0"/>
          </p:cNvCxnSpPr>
          <p:nvPr/>
        </p:nvCxnSpPr>
        <p:spPr>
          <a:xfrm flipH="1">
            <a:off x="1781937" y="2224632"/>
            <a:ext cx="1458068" cy="1209791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88" name="Straight Arrow Connector 30"/>
          <p:cNvCxnSpPr>
            <a:stCxn id="275" idx="0"/>
            <a:endCxn id="279" idx="0"/>
          </p:cNvCxnSpPr>
          <p:nvPr/>
        </p:nvCxnSpPr>
        <p:spPr>
          <a:xfrm>
            <a:off x="3240004" y="2224632"/>
            <a:ext cx="1" cy="1283272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89" name="Oval 33"/>
          <p:cNvSpPr/>
          <p:nvPr/>
        </p:nvSpPr>
        <p:spPr>
          <a:xfrm>
            <a:off x="6933844" y="3183543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Oval 34"/>
          <p:cNvSpPr/>
          <p:nvPr/>
        </p:nvSpPr>
        <p:spPr>
          <a:xfrm>
            <a:off x="5589942" y="3183543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291" name="Straight Arrow Connector 35"/>
          <p:cNvCxnSpPr>
            <a:stCxn id="273" idx="0"/>
            <a:endCxn id="290" idx="0"/>
          </p:cNvCxnSpPr>
          <p:nvPr/>
        </p:nvCxnSpPr>
        <p:spPr>
          <a:xfrm>
            <a:off x="5848624" y="2224632"/>
            <a:ext cx="1" cy="1209791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292" name="Straight Arrow Connector 36"/>
          <p:cNvCxnSpPr>
            <a:stCxn id="273" idx="0"/>
            <a:endCxn id="289" idx="0"/>
          </p:cNvCxnSpPr>
          <p:nvPr/>
        </p:nvCxnSpPr>
        <p:spPr>
          <a:xfrm>
            <a:off x="5848624" y="2224632"/>
            <a:ext cx="1343903" cy="1209791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293" name="TextBox 28"/>
          <p:cNvSpPr txBox="1"/>
          <p:nvPr/>
        </p:nvSpPr>
        <p:spPr>
          <a:xfrm>
            <a:off x="1064342" y="5651225"/>
            <a:ext cx="7786178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Unit Tests einfach, da keine Abhängigkeiten</a:t>
            </a:r>
          </a:p>
        </p:txBody>
      </p:sp>
      <p:sp>
        <p:nvSpPr>
          <p:cNvPr id="294" name="Oval 29"/>
          <p:cNvSpPr/>
          <p:nvPr/>
        </p:nvSpPr>
        <p:spPr>
          <a:xfrm>
            <a:off x="501260" y="5651225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Oval 31"/>
          <p:cNvSpPr/>
          <p:nvPr/>
        </p:nvSpPr>
        <p:spPr>
          <a:xfrm>
            <a:off x="501260" y="5651225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Oval 3"/>
          <p:cNvSpPr/>
          <p:nvPr/>
        </p:nvSpPr>
        <p:spPr>
          <a:xfrm>
            <a:off x="4303536" y="815357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Oval 4"/>
          <p:cNvSpPr/>
          <p:nvPr/>
        </p:nvSpPr>
        <p:spPr>
          <a:xfrm>
            <a:off x="5589942" y="197375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Oval 5"/>
          <p:cNvSpPr/>
          <p:nvPr/>
        </p:nvSpPr>
        <p:spPr>
          <a:xfrm>
            <a:off x="4303536" y="1973753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Oval 6"/>
          <p:cNvSpPr/>
          <p:nvPr/>
        </p:nvSpPr>
        <p:spPr>
          <a:xfrm>
            <a:off x="2981322" y="197375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01" name="Straight Arrow Connector 8"/>
          <p:cNvCxnSpPr>
            <a:stCxn id="297" idx="0"/>
            <a:endCxn id="300" idx="0"/>
          </p:cNvCxnSpPr>
          <p:nvPr/>
        </p:nvCxnSpPr>
        <p:spPr>
          <a:xfrm flipH="1">
            <a:off x="3240004" y="1066236"/>
            <a:ext cx="1322215" cy="115839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02" name="Straight Arrow Connector 9"/>
          <p:cNvCxnSpPr>
            <a:stCxn id="297" idx="0"/>
            <a:endCxn id="299" idx="0"/>
          </p:cNvCxnSpPr>
          <p:nvPr/>
        </p:nvCxnSpPr>
        <p:spPr>
          <a:xfrm>
            <a:off x="4562218" y="1066236"/>
            <a:ext cx="1" cy="115839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03" name="Straight Arrow Connector 10"/>
          <p:cNvCxnSpPr>
            <a:stCxn id="297" idx="0"/>
            <a:endCxn id="298" idx="0"/>
          </p:cNvCxnSpPr>
          <p:nvPr/>
        </p:nvCxnSpPr>
        <p:spPr>
          <a:xfrm>
            <a:off x="4562218" y="1066236"/>
            <a:ext cx="1286407" cy="115839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04" name="Oval 19"/>
          <p:cNvSpPr/>
          <p:nvPr/>
        </p:nvSpPr>
        <p:spPr>
          <a:xfrm>
            <a:off x="2981322" y="3257024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Oval 20"/>
          <p:cNvSpPr/>
          <p:nvPr/>
        </p:nvSpPr>
        <p:spPr>
          <a:xfrm>
            <a:off x="4227769" y="4415421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Oval 21"/>
          <p:cNvSpPr/>
          <p:nvPr/>
        </p:nvSpPr>
        <p:spPr>
          <a:xfrm>
            <a:off x="2981322" y="4415421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Oval 22"/>
          <p:cNvSpPr/>
          <p:nvPr/>
        </p:nvSpPr>
        <p:spPr>
          <a:xfrm>
            <a:off x="1706216" y="4415421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08" name="Straight Arrow Connector 23"/>
          <p:cNvCxnSpPr>
            <a:stCxn id="304" idx="0"/>
            <a:endCxn id="307" idx="0"/>
          </p:cNvCxnSpPr>
          <p:nvPr/>
        </p:nvCxnSpPr>
        <p:spPr>
          <a:xfrm flipH="1">
            <a:off x="1964898" y="3507903"/>
            <a:ext cx="1275107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09" name="Straight Arrow Connector 24"/>
          <p:cNvCxnSpPr>
            <a:stCxn id="304" idx="0"/>
            <a:endCxn id="306" idx="0"/>
          </p:cNvCxnSpPr>
          <p:nvPr/>
        </p:nvCxnSpPr>
        <p:spPr>
          <a:xfrm>
            <a:off x="3240004" y="3507903"/>
            <a:ext cx="1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10" name="Straight Arrow Connector 25"/>
          <p:cNvCxnSpPr>
            <a:stCxn id="304" idx="0"/>
            <a:endCxn id="305" idx="0"/>
          </p:cNvCxnSpPr>
          <p:nvPr/>
        </p:nvCxnSpPr>
        <p:spPr>
          <a:xfrm>
            <a:off x="3240004" y="3507903"/>
            <a:ext cx="1246448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11" name="Oval 26"/>
          <p:cNvSpPr/>
          <p:nvPr/>
        </p:nvSpPr>
        <p:spPr>
          <a:xfrm>
            <a:off x="1523255" y="3183543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12" name="Straight Arrow Connector 27"/>
          <p:cNvCxnSpPr>
            <a:stCxn id="300" idx="0"/>
            <a:endCxn id="311" idx="0"/>
          </p:cNvCxnSpPr>
          <p:nvPr/>
        </p:nvCxnSpPr>
        <p:spPr>
          <a:xfrm flipH="1">
            <a:off x="1781937" y="2224632"/>
            <a:ext cx="1458068" cy="1209791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13" name="Straight Arrow Connector 30"/>
          <p:cNvCxnSpPr>
            <a:stCxn id="300" idx="0"/>
            <a:endCxn id="304" idx="0"/>
          </p:cNvCxnSpPr>
          <p:nvPr/>
        </p:nvCxnSpPr>
        <p:spPr>
          <a:xfrm>
            <a:off x="3240004" y="2224632"/>
            <a:ext cx="1" cy="1283272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14" name="Oval 33"/>
          <p:cNvSpPr/>
          <p:nvPr/>
        </p:nvSpPr>
        <p:spPr>
          <a:xfrm>
            <a:off x="6933844" y="3183543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Oval 34"/>
          <p:cNvSpPr/>
          <p:nvPr/>
        </p:nvSpPr>
        <p:spPr>
          <a:xfrm>
            <a:off x="5589942" y="3183543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16" name="Straight Arrow Connector 35"/>
          <p:cNvCxnSpPr>
            <a:stCxn id="298" idx="0"/>
            <a:endCxn id="315" idx="0"/>
          </p:cNvCxnSpPr>
          <p:nvPr/>
        </p:nvCxnSpPr>
        <p:spPr>
          <a:xfrm>
            <a:off x="5848624" y="2224632"/>
            <a:ext cx="1" cy="1209791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17" name="Straight Arrow Connector 36"/>
          <p:cNvCxnSpPr>
            <a:stCxn id="298" idx="0"/>
            <a:endCxn id="314" idx="0"/>
          </p:cNvCxnSpPr>
          <p:nvPr/>
        </p:nvCxnSpPr>
        <p:spPr>
          <a:xfrm>
            <a:off x="5848624" y="2224632"/>
            <a:ext cx="1343903" cy="1209791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18" name="TextBox 28"/>
          <p:cNvSpPr txBox="1"/>
          <p:nvPr/>
        </p:nvSpPr>
        <p:spPr>
          <a:xfrm>
            <a:off x="1064342" y="5651225"/>
            <a:ext cx="7940190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Unit Tests aufwändig, Einsatz von Attrappen</a:t>
            </a:r>
          </a:p>
        </p:txBody>
      </p:sp>
      <p:sp>
        <p:nvSpPr>
          <p:cNvPr id="319" name="Arc 1"/>
          <p:cNvSpPr/>
          <p:nvPr/>
        </p:nvSpPr>
        <p:spPr>
          <a:xfrm rot="4423640">
            <a:off x="5532931" y="1806859"/>
            <a:ext cx="714581" cy="1498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1929" y="0"/>
                  <a:pt x="21600" y="5258"/>
                  <a:pt x="21600" y="11744"/>
                </a:cubicBezTo>
                <a:cubicBezTo>
                  <a:pt x="21600" y="15725"/>
                  <a:pt x="17890" y="19435"/>
                  <a:pt x="11744" y="21600"/>
                </a:cubicBezTo>
              </a:path>
            </a:pathLst>
          </a:custGeom>
          <a:ln w="76200">
            <a:solidFill>
              <a:srgbClr val="008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</a:p>
        </p:txBody>
      </p:sp>
      <p:sp>
        <p:nvSpPr>
          <p:cNvPr id="320" name="Arc 32"/>
          <p:cNvSpPr/>
          <p:nvPr/>
        </p:nvSpPr>
        <p:spPr>
          <a:xfrm rot="6150408">
            <a:off x="4191456" y="487918"/>
            <a:ext cx="714581" cy="1498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1929" y="0"/>
                  <a:pt x="21600" y="5258"/>
                  <a:pt x="21600" y="11744"/>
                </a:cubicBezTo>
                <a:cubicBezTo>
                  <a:pt x="21600" y="15725"/>
                  <a:pt x="17890" y="19435"/>
                  <a:pt x="11744" y="21600"/>
                </a:cubicBezTo>
              </a:path>
            </a:pathLst>
          </a:custGeom>
          <a:ln w="76200">
            <a:solidFill>
              <a:srgbClr val="008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</a:p>
        </p:txBody>
      </p:sp>
      <p:sp>
        <p:nvSpPr>
          <p:cNvPr id="321" name="Arc 37"/>
          <p:cNvSpPr/>
          <p:nvPr/>
        </p:nvSpPr>
        <p:spPr>
          <a:xfrm rot="7723489">
            <a:off x="2710264" y="1728436"/>
            <a:ext cx="714582" cy="14981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1929" y="0"/>
                  <a:pt x="21600" y="5258"/>
                  <a:pt x="21600" y="11744"/>
                </a:cubicBezTo>
                <a:cubicBezTo>
                  <a:pt x="21600" y="15725"/>
                  <a:pt x="17890" y="19435"/>
                  <a:pt x="11744" y="21600"/>
                </a:cubicBezTo>
              </a:path>
            </a:pathLst>
          </a:custGeom>
          <a:ln w="76200">
            <a:solidFill>
              <a:srgbClr val="008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</a:p>
        </p:txBody>
      </p:sp>
      <p:sp>
        <p:nvSpPr>
          <p:cNvPr id="322" name="Arc 38"/>
          <p:cNvSpPr/>
          <p:nvPr/>
        </p:nvSpPr>
        <p:spPr>
          <a:xfrm rot="6150408">
            <a:off x="2802774" y="2963430"/>
            <a:ext cx="714581" cy="1498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11929" y="0"/>
                  <a:pt x="21600" y="5258"/>
                  <a:pt x="21600" y="11744"/>
                </a:cubicBezTo>
                <a:cubicBezTo>
                  <a:pt x="21600" y="15725"/>
                  <a:pt x="17890" y="19435"/>
                  <a:pt x="11744" y="21600"/>
                </a:cubicBezTo>
              </a:path>
            </a:pathLst>
          </a:custGeom>
          <a:ln w="76200">
            <a:solidFill>
              <a:srgbClr val="008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Oval 3"/>
          <p:cNvSpPr/>
          <p:nvPr/>
        </p:nvSpPr>
        <p:spPr>
          <a:xfrm>
            <a:off x="4303536" y="815357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Oval 4"/>
          <p:cNvSpPr/>
          <p:nvPr/>
        </p:nvSpPr>
        <p:spPr>
          <a:xfrm>
            <a:off x="5589942" y="197375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Oval 5"/>
          <p:cNvSpPr/>
          <p:nvPr/>
        </p:nvSpPr>
        <p:spPr>
          <a:xfrm>
            <a:off x="4303536" y="1973753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Oval 6"/>
          <p:cNvSpPr/>
          <p:nvPr/>
        </p:nvSpPr>
        <p:spPr>
          <a:xfrm>
            <a:off x="2981322" y="197375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28" name="Straight Arrow Connector 8"/>
          <p:cNvCxnSpPr>
            <a:stCxn id="324" idx="0"/>
            <a:endCxn id="327" idx="0"/>
          </p:cNvCxnSpPr>
          <p:nvPr/>
        </p:nvCxnSpPr>
        <p:spPr>
          <a:xfrm flipH="1">
            <a:off x="3240004" y="1066236"/>
            <a:ext cx="1322215" cy="115839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29" name="Straight Arrow Connector 9"/>
          <p:cNvCxnSpPr>
            <a:stCxn id="324" idx="0"/>
            <a:endCxn id="326" idx="0"/>
          </p:cNvCxnSpPr>
          <p:nvPr/>
        </p:nvCxnSpPr>
        <p:spPr>
          <a:xfrm>
            <a:off x="4562218" y="1066236"/>
            <a:ext cx="1" cy="115839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30" name="Straight Arrow Connector 10"/>
          <p:cNvCxnSpPr>
            <a:stCxn id="324" idx="0"/>
            <a:endCxn id="325" idx="0"/>
          </p:cNvCxnSpPr>
          <p:nvPr/>
        </p:nvCxnSpPr>
        <p:spPr>
          <a:xfrm>
            <a:off x="4562218" y="1066236"/>
            <a:ext cx="1286407" cy="1158397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31" name="Oval 19"/>
          <p:cNvSpPr/>
          <p:nvPr/>
        </p:nvSpPr>
        <p:spPr>
          <a:xfrm>
            <a:off x="2981322" y="3257024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Oval 20"/>
          <p:cNvSpPr/>
          <p:nvPr/>
        </p:nvSpPr>
        <p:spPr>
          <a:xfrm>
            <a:off x="4227769" y="4415421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Oval 21"/>
          <p:cNvSpPr/>
          <p:nvPr/>
        </p:nvSpPr>
        <p:spPr>
          <a:xfrm>
            <a:off x="2981322" y="4415421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Oval 22"/>
          <p:cNvSpPr/>
          <p:nvPr/>
        </p:nvSpPr>
        <p:spPr>
          <a:xfrm>
            <a:off x="1706216" y="4415421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35" name="Straight Arrow Connector 23"/>
          <p:cNvCxnSpPr>
            <a:stCxn id="331" idx="0"/>
            <a:endCxn id="334" idx="0"/>
          </p:cNvCxnSpPr>
          <p:nvPr/>
        </p:nvCxnSpPr>
        <p:spPr>
          <a:xfrm flipH="1">
            <a:off x="1964898" y="3507903"/>
            <a:ext cx="1275107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36" name="Straight Arrow Connector 24"/>
          <p:cNvCxnSpPr>
            <a:stCxn id="331" idx="0"/>
            <a:endCxn id="333" idx="0"/>
          </p:cNvCxnSpPr>
          <p:nvPr/>
        </p:nvCxnSpPr>
        <p:spPr>
          <a:xfrm>
            <a:off x="3240004" y="3507903"/>
            <a:ext cx="1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37" name="Straight Arrow Connector 25"/>
          <p:cNvCxnSpPr>
            <a:stCxn id="331" idx="0"/>
            <a:endCxn id="332" idx="0"/>
          </p:cNvCxnSpPr>
          <p:nvPr/>
        </p:nvCxnSpPr>
        <p:spPr>
          <a:xfrm>
            <a:off x="3240004" y="3507903"/>
            <a:ext cx="1246448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38" name="Oval 26"/>
          <p:cNvSpPr/>
          <p:nvPr/>
        </p:nvSpPr>
        <p:spPr>
          <a:xfrm>
            <a:off x="1523255" y="3183543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39" name="Straight Arrow Connector 27"/>
          <p:cNvCxnSpPr>
            <a:stCxn id="327" idx="0"/>
            <a:endCxn id="338" idx="0"/>
          </p:cNvCxnSpPr>
          <p:nvPr/>
        </p:nvCxnSpPr>
        <p:spPr>
          <a:xfrm flipH="1">
            <a:off x="1781937" y="2224632"/>
            <a:ext cx="1458068" cy="1209791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40" name="Straight Arrow Connector 30"/>
          <p:cNvCxnSpPr>
            <a:stCxn id="327" idx="0"/>
            <a:endCxn id="331" idx="0"/>
          </p:cNvCxnSpPr>
          <p:nvPr/>
        </p:nvCxnSpPr>
        <p:spPr>
          <a:xfrm>
            <a:off x="3240004" y="2224632"/>
            <a:ext cx="1" cy="1283272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41" name="Oval 33"/>
          <p:cNvSpPr/>
          <p:nvPr/>
        </p:nvSpPr>
        <p:spPr>
          <a:xfrm>
            <a:off x="6933844" y="3183543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Oval 34"/>
          <p:cNvSpPr/>
          <p:nvPr/>
        </p:nvSpPr>
        <p:spPr>
          <a:xfrm>
            <a:off x="5589942" y="3183543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43" name="Straight Arrow Connector 35"/>
          <p:cNvCxnSpPr>
            <a:stCxn id="325" idx="0"/>
            <a:endCxn id="342" idx="0"/>
          </p:cNvCxnSpPr>
          <p:nvPr/>
        </p:nvCxnSpPr>
        <p:spPr>
          <a:xfrm>
            <a:off x="5848624" y="2224632"/>
            <a:ext cx="1" cy="1209791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44" name="Straight Arrow Connector 36"/>
          <p:cNvCxnSpPr>
            <a:stCxn id="325" idx="0"/>
            <a:endCxn id="341" idx="0"/>
          </p:cNvCxnSpPr>
          <p:nvPr/>
        </p:nvCxnSpPr>
        <p:spPr>
          <a:xfrm>
            <a:off x="5848624" y="2224632"/>
            <a:ext cx="1343903" cy="1209791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45" name="TextBox 1"/>
          <p:cNvSpPr txBox="1"/>
          <p:nvPr/>
        </p:nvSpPr>
        <p:spPr>
          <a:xfrm>
            <a:off x="381999" y="5206801"/>
            <a:ext cx="6885891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 u="sng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Blätter</a:t>
            </a:r>
            <a:r>
              <a:rPr u="none"/>
              <a:t> = Operationen = Domänenlogik</a:t>
            </a:r>
          </a:p>
        </p:txBody>
      </p:sp>
      <p:sp>
        <p:nvSpPr>
          <p:cNvPr id="346" name="TextBox 29"/>
          <p:cNvSpPr txBox="1"/>
          <p:nvPr/>
        </p:nvSpPr>
        <p:spPr>
          <a:xfrm>
            <a:off x="5054830" y="767919"/>
            <a:ext cx="3777865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 u="sng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Knoten</a:t>
            </a:r>
            <a:r>
              <a:rPr u="none"/>
              <a:t> = Integration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Oval 3"/>
          <p:cNvSpPr/>
          <p:nvPr/>
        </p:nvSpPr>
        <p:spPr>
          <a:xfrm>
            <a:off x="4303534" y="647740"/>
            <a:ext cx="517366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Oval 4"/>
          <p:cNvSpPr/>
          <p:nvPr/>
        </p:nvSpPr>
        <p:spPr>
          <a:xfrm>
            <a:off x="5549982" y="1806137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Oval 5"/>
          <p:cNvSpPr/>
          <p:nvPr/>
        </p:nvSpPr>
        <p:spPr>
          <a:xfrm>
            <a:off x="4303534" y="1806137"/>
            <a:ext cx="517366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Oval 6"/>
          <p:cNvSpPr/>
          <p:nvPr/>
        </p:nvSpPr>
        <p:spPr>
          <a:xfrm>
            <a:off x="3028428" y="1806137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52" name="Straight Arrow Connector 7"/>
          <p:cNvCxnSpPr>
            <a:stCxn id="348" idx="0"/>
            <a:endCxn id="351" idx="0"/>
          </p:cNvCxnSpPr>
          <p:nvPr/>
        </p:nvCxnSpPr>
        <p:spPr>
          <a:xfrm flipH="1">
            <a:off x="3287110" y="898619"/>
            <a:ext cx="1275107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53" name="Straight Arrow Connector 8"/>
          <p:cNvCxnSpPr>
            <a:stCxn id="348" idx="0"/>
            <a:endCxn id="350" idx="0"/>
          </p:cNvCxnSpPr>
          <p:nvPr/>
        </p:nvCxnSpPr>
        <p:spPr>
          <a:xfrm>
            <a:off x="4562216" y="898619"/>
            <a:ext cx="1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54" name="Straight Arrow Connector 9"/>
          <p:cNvCxnSpPr>
            <a:stCxn id="348" idx="0"/>
            <a:endCxn id="349" idx="0"/>
          </p:cNvCxnSpPr>
          <p:nvPr/>
        </p:nvCxnSpPr>
        <p:spPr>
          <a:xfrm>
            <a:off x="4562216" y="898619"/>
            <a:ext cx="1246449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55" name="TextBox 10"/>
          <p:cNvSpPr txBox="1"/>
          <p:nvPr/>
        </p:nvSpPr>
        <p:spPr>
          <a:xfrm>
            <a:off x="581863" y="2780684"/>
            <a:ext cx="7980275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I</a:t>
            </a:r>
            <a:r>
              <a:rPr>
                <a:solidFill>
                  <a:srgbClr val="000000"/>
                </a:solidFill>
              </a:rPr>
              <a:t>ntegration </a:t>
            </a:r>
            <a:r>
              <a:t>O</a:t>
            </a:r>
            <a:r>
              <a:rPr>
                <a:solidFill>
                  <a:srgbClr val="000000"/>
                </a:solidFill>
              </a:rPr>
              <a:t>peration</a:t>
            </a:r>
            <a:endParaRPr>
              <a:solidFill>
                <a:srgbClr val="000000"/>
              </a:solidFill>
            </a:endParaRPr>
          </a:p>
          <a:p>
            <a:pPr algn="ctr">
              <a:defRPr sz="44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S</a:t>
            </a:r>
            <a:r>
              <a:rPr>
                <a:solidFill>
                  <a:srgbClr val="000000"/>
                </a:solidFill>
              </a:rPr>
              <a:t>egregation </a:t>
            </a:r>
            <a:r>
              <a:t>P</a:t>
            </a:r>
            <a:r>
              <a:rPr>
                <a:solidFill>
                  <a:srgbClr val="000000"/>
                </a:solidFill>
              </a:rPr>
              <a:t>rinciple (</a:t>
            </a:r>
            <a:r>
              <a:t>IOSP</a:t>
            </a:r>
            <a:r>
              <a:rPr>
                <a:solidFill>
                  <a:srgbClr val="000000"/>
                </a:solidFill>
              </a:rP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Isosceles Triangle 3"/>
          <p:cNvSpPr/>
          <p:nvPr/>
        </p:nvSpPr>
        <p:spPr>
          <a:xfrm flipV="1" rot="10800000">
            <a:off x="1345161" y="2046939"/>
            <a:ext cx="2589228" cy="2842374"/>
          </a:xfrm>
          <a:prstGeom prst="triangl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TextBox 7"/>
          <p:cNvSpPr txBox="1"/>
          <p:nvPr/>
        </p:nvSpPr>
        <p:spPr>
          <a:xfrm>
            <a:off x="3390012" y="3110229"/>
            <a:ext cx="3489485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solidFill>
                  <a:srgbClr val="008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Integrationstests</a:t>
            </a:r>
          </a:p>
        </p:txBody>
      </p:sp>
      <p:sp>
        <p:nvSpPr>
          <p:cNvPr id="359" name="TextBox 8"/>
          <p:cNvSpPr txBox="1"/>
          <p:nvPr/>
        </p:nvSpPr>
        <p:spPr>
          <a:xfrm>
            <a:off x="3980108" y="4320425"/>
            <a:ext cx="1887697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solidFill>
                  <a:srgbClr val="008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Unittests</a:t>
            </a:r>
          </a:p>
        </p:txBody>
      </p:sp>
      <p:sp>
        <p:nvSpPr>
          <p:cNvPr id="360" name="TextBox 8"/>
          <p:cNvSpPr txBox="1"/>
          <p:nvPr/>
        </p:nvSpPr>
        <p:spPr>
          <a:xfrm>
            <a:off x="2877254" y="1827905"/>
            <a:ext cx="3799642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solidFill>
                  <a:srgbClr val="008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Systemtests (E2E)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Oval 6"/>
          <p:cNvSpPr/>
          <p:nvPr/>
        </p:nvSpPr>
        <p:spPr>
          <a:xfrm>
            <a:off x="759796" y="1464233"/>
            <a:ext cx="943497" cy="762003"/>
          </a:xfrm>
          <a:prstGeom prst="ellipse">
            <a:avLst/>
          </a:prstGeom>
          <a:solidFill>
            <a:srgbClr val="E6B9B8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Oval 4"/>
          <p:cNvSpPr/>
          <p:nvPr/>
        </p:nvSpPr>
        <p:spPr>
          <a:xfrm>
            <a:off x="1960291" y="1464233"/>
            <a:ext cx="1326767" cy="762003"/>
          </a:xfrm>
          <a:prstGeom prst="ellipse">
            <a:avLst/>
          </a:prstGeom>
          <a:solidFill>
            <a:srgbClr val="FAC090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Oval 5"/>
          <p:cNvSpPr/>
          <p:nvPr/>
        </p:nvSpPr>
        <p:spPr>
          <a:xfrm>
            <a:off x="1559951" y="1145697"/>
            <a:ext cx="1052650" cy="1080539"/>
          </a:xfrm>
          <a:prstGeom prst="ellipse">
            <a:avLst/>
          </a:prstGeom>
          <a:solidFill>
            <a:srgbClr val="C3D69B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TextBox 7"/>
          <p:cNvSpPr txBox="1"/>
          <p:nvPr/>
        </p:nvSpPr>
        <p:spPr>
          <a:xfrm>
            <a:off x="3012822" y="3151426"/>
            <a:ext cx="3489484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Integrationstests</a:t>
            </a:r>
          </a:p>
        </p:txBody>
      </p:sp>
      <p:sp>
        <p:nvSpPr>
          <p:cNvPr id="366" name="TextBox 8"/>
          <p:cNvSpPr txBox="1"/>
          <p:nvPr/>
        </p:nvSpPr>
        <p:spPr>
          <a:xfrm>
            <a:off x="2451246" y="4306606"/>
            <a:ext cx="1887698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Unittests</a:t>
            </a:r>
          </a:p>
        </p:txBody>
      </p:sp>
      <p:sp>
        <p:nvSpPr>
          <p:cNvPr id="367" name="Isosceles Triangle 9"/>
          <p:cNvSpPr/>
          <p:nvPr/>
        </p:nvSpPr>
        <p:spPr>
          <a:xfrm rot="10800000">
            <a:off x="759797" y="2049009"/>
            <a:ext cx="2589227" cy="2842375"/>
          </a:xfrm>
          <a:prstGeom prst="triangl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TextBox 7"/>
          <p:cNvSpPr txBox="1"/>
          <p:nvPr/>
        </p:nvSpPr>
        <p:spPr>
          <a:xfrm>
            <a:off x="3403858" y="1996245"/>
            <a:ext cx="3799643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Systemtests (E2E)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Oval 6"/>
          <p:cNvSpPr/>
          <p:nvPr/>
        </p:nvSpPr>
        <p:spPr>
          <a:xfrm>
            <a:off x="3545540" y="2839118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71" name="Straight Arrow Connector 8"/>
          <p:cNvCxnSpPr>
            <a:stCxn id="370" idx="0"/>
            <a:endCxn id="375" idx="0"/>
          </p:cNvCxnSpPr>
          <p:nvPr/>
        </p:nvCxnSpPr>
        <p:spPr>
          <a:xfrm flipH="1" flipV="1">
            <a:off x="1935171" y="1849716"/>
            <a:ext cx="1869052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72" name="Straight Arrow Connector 9"/>
          <p:cNvCxnSpPr>
            <a:stCxn id="370" idx="0"/>
            <a:endCxn id="374" idx="0"/>
          </p:cNvCxnSpPr>
          <p:nvPr/>
        </p:nvCxnSpPr>
        <p:spPr>
          <a:xfrm flipV="1">
            <a:off x="3804222" y="1849716"/>
            <a:ext cx="917743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73" name="Oval 10"/>
          <p:cNvSpPr/>
          <p:nvPr/>
        </p:nvSpPr>
        <p:spPr>
          <a:xfrm>
            <a:off x="3534352" y="403699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Oval 11"/>
          <p:cNvSpPr/>
          <p:nvPr/>
        </p:nvSpPr>
        <p:spPr>
          <a:xfrm>
            <a:off x="4463282" y="1598837"/>
            <a:ext cx="517366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Oval 12"/>
          <p:cNvSpPr/>
          <p:nvPr/>
        </p:nvSpPr>
        <p:spPr>
          <a:xfrm>
            <a:off x="1676489" y="1598837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76" name="Straight Arrow Connector 15"/>
          <p:cNvCxnSpPr>
            <a:stCxn id="373" idx="0"/>
            <a:endCxn id="375" idx="0"/>
          </p:cNvCxnSpPr>
          <p:nvPr/>
        </p:nvCxnSpPr>
        <p:spPr>
          <a:xfrm flipH="1">
            <a:off x="1935171" y="654578"/>
            <a:ext cx="1857864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77" name="Straight Arrow Connector 16"/>
          <p:cNvCxnSpPr>
            <a:stCxn id="373" idx="0"/>
            <a:endCxn id="374" idx="0"/>
          </p:cNvCxnSpPr>
          <p:nvPr/>
        </p:nvCxnSpPr>
        <p:spPr>
          <a:xfrm>
            <a:off x="3793034" y="654578"/>
            <a:ext cx="928931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78" name="Straight Arrow Connector 23"/>
          <p:cNvCxnSpPr>
            <a:stCxn id="370" idx="0"/>
            <a:endCxn id="379" idx="0"/>
          </p:cNvCxnSpPr>
          <p:nvPr/>
        </p:nvCxnSpPr>
        <p:spPr>
          <a:xfrm flipV="1">
            <a:off x="3804222" y="1849716"/>
            <a:ext cx="1846674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79" name="Oval 26"/>
          <p:cNvSpPr/>
          <p:nvPr/>
        </p:nvSpPr>
        <p:spPr>
          <a:xfrm>
            <a:off x="5392213" y="1598837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80" name="Straight Arrow Connector 27"/>
          <p:cNvCxnSpPr>
            <a:stCxn id="373" idx="0"/>
            <a:endCxn id="379" idx="0"/>
          </p:cNvCxnSpPr>
          <p:nvPr/>
        </p:nvCxnSpPr>
        <p:spPr>
          <a:xfrm>
            <a:off x="3793034" y="654578"/>
            <a:ext cx="1857862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81" name="Straight Arrow Connector 41"/>
          <p:cNvCxnSpPr>
            <a:stCxn id="370" idx="0"/>
            <a:endCxn id="382" idx="0"/>
          </p:cNvCxnSpPr>
          <p:nvPr/>
        </p:nvCxnSpPr>
        <p:spPr>
          <a:xfrm flipH="1" flipV="1">
            <a:off x="3793034" y="1849716"/>
            <a:ext cx="11189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82" name="Oval 42"/>
          <p:cNvSpPr/>
          <p:nvPr/>
        </p:nvSpPr>
        <p:spPr>
          <a:xfrm>
            <a:off x="3534352" y="1598837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83" name="Straight Arrow Connector 43"/>
          <p:cNvCxnSpPr>
            <a:stCxn id="373" idx="0"/>
            <a:endCxn id="382" idx="0"/>
          </p:cNvCxnSpPr>
          <p:nvPr/>
        </p:nvCxnSpPr>
        <p:spPr>
          <a:xfrm>
            <a:off x="3793034" y="654578"/>
            <a:ext cx="1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84" name="Straight Arrow Connector 49"/>
          <p:cNvCxnSpPr>
            <a:stCxn id="370" idx="0"/>
            <a:endCxn id="385" idx="0"/>
          </p:cNvCxnSpPr>
          <p:nvPr/>
        </p:nvCxnSpPr>
        <p:spPr>
          <a:xfrm flipH="1" flipV="1">
            <a:off x="2864103" y="1849716"/>
            <a:ext cx="940120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85" name="Oval 50"/>
          <p:cNvSpPr/>
          <p:nvPr/>
        </p:nvSpPr>
        <p:spPr>
          <a:xfrm>
            <a:off x="2605421" y="1598837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86" name="Straight Arrow Connector 51"/>
          <p:cNvCxnSpPr>
            <a:stCxn id="373" idx="0"/>
            <a:endCxn id="385" idx="0"/>
          </p:cNvCxnSpPr>
          <p:nvPr/>
        </p:nvCxnSpPr>
        <p:spPr>
          <a:xfrm flipH="1">
            <a:off x="2864103" y="654578"/>
            <a:ext cx="928932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387" name="Straight Connector 86"/>
          <p:cNvSpPr/>
          <p:nvPr/>
        </p:nvSpPr>
        <p:spPr>
          <a:xfrm>
            <a:off x="1179213" y="1140153"/>
            <a:ext cx="7877773" cy="1"/>
          </a:xfrm>
          <a:prstGeom prst="line">
            <a:avLst/>
          </a:prstGeom>
          <a:ln w="25400">
            <a:solidFill>
              <a:srgbClr val="FF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8" name="Straight Connector 87"/>
          <p:cNvSpPr/>
          <p:nvPr/>
        </p:nvSpPr>
        <p:spPr>
          <a:xfrm>
            <a:off x="1179213" y="2493653"/>
            <a:ext cx="7877774" cy="1"/>
          </a:xfrm>
          <a:prstGeom prst="line">
            <a:avLst/>
          </a:prstGeom>
          <a:ln w="25400">
            <a:solidFill>
              <a:srgbClr val="FF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9" name="TextBox 88"/>
          <p:cNvSpPr txBox="1"/>
          <p:nvPr/>
        </p:nvSpPr>
        <p:spPr>
          <a:xfrm>
            <a:off x="6383323" y="259125"/>
            <a:ext cx="2630572" cy="71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Integration</a:t>
            </a:r>
          </a:p>
        </p:txBody>
      </p:sp>
      <p:sp>
        <p:nvSpPr>
          <p:cNvPr id="390" name="TextBox 89"/>
          <p:cNvSpPr txBox="1"/>
          <p:nvPr/>
        </p:nvSpPr>
        <p:spPr>
          <a:xfrm>
            <a:off x="6383323" y="1501292"/>
            <a:ext cx="2347501" cy="71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Operation</a:t>
            </a:r>
          </a:p>
        </p:txBody>
      </p:sp>
      <p:sp>
        <p:nvSpPr>
          <p:cNvPr id="391" name="TextBox 90"/>
          <p:cNvSpPr txBox="1"/>
          <p:nvPr/>
        </p:nvSpPr>
        <p:spPr>
          <a:xfrm>
            <a:off x="6383323" y="2839118"/>
            <a:ext cx="1162085" cy="71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Data</a:t>
            </a:r>
          </a:p>
        </p:txBody>
      </p:sp>
      <p:sp>
        <p:nvSpPr>
          <p:cNvPr id="392" name="TextBox 29"/>
          <p:cNvSpPr txBox="1"/>
          <p:nvPr/>
        </p:nvSpPr>
        <p:spPr>
          <a:xfrm>
            <a:off x="342710" y="4566585"/>
            <a:ext cx="7432958" cy="197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54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I</a:t>
            </a:r>
            <a:r>
              <a:rPr>
                <a:solidFill>
                  <a:srgbClr val="000000"/>
                </a:solidFill>
              </a:rPr>
              <a:t>ntegration </a:t>
            </a:r>
            <a:r>
              <a:t>O</a:t>
            </a:r>
            <a:r>
              <a:rPr>
                <a:solidFill>
                  <a:srgbClr val="000000"/>
                </a:solidFill>
              </a:rPr>
              <a:t>peration</a:t>
            </a:r>
            <a:endParaRPr>
              <a:solidFill>
                <a:srgbClr val="000000"/>
              </a:solidFill>
            </a:endParaRPr>
          </a:p>
          <a:p>
            <a:pPr>
              <a:defRPr sz="54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D</a:t>
            </a:r>
            <a:r>
              <a:rPr>
                <a:solidFill>
                  <a:srgbClr val="000000"/>
                </a:solidFill>
              </a:rPr>
              <a:t>ata </a:t>
            </a:r>
            <a:r>
              <a:t>A</a:t>
            </a:r>
            <a:r>
              <a:rPr>
                <a:solidFill>
                  <a:srgbClr val="000000"/>
                </a:solidFill>
              </a:rPr>
              <a:t>PI (</a:t>
            </a:r>
            <a:r>
              <a:t>IODA</a:t>
            </a:r>
            <a:r>
              <a:rPr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93" name="Rectangle 1"/>
          <p:cNvSpPr/>
          <p:nvPr/>
        </p:nvSpPr>
        <p:spPr>
          <a:xfrm>
            <a:off x="609664" y="501143"/>
            <a:ext cx="458892" cy="2869534"/>
          </a:xfrm>
          <a:prstGeom prst="rect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4" name="TextBox 31"/>
          <p:cNvSpPr txBox="1"/>
          <p:nvPr/>
        </p:nvSpPr>
        <p:spPr>
          <a:xfrm>
            <a:off x="400254" y="3269335"/>
            <a:ext cx="877712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API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Oval 6"/>
          <p:cNvSpPr/>
          <p:nvPr/>
        </p:nvSpPr>
        <p:spPr>
          <a:xfrm>
            <a:off x="2999440" y="3750314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397" name="Straight Arrow Connector 7"/>
          <p:cNvCxnSpPr>
            <a:stCxn id="396" idx="0"/>
            <a:endCxn id="403" idx="0"/>
          </p:cNvCxnSpPr>
          <p:nvPr/>
        </p:nvCxnSpPr>
        <p:spPr>
          <a:xfrm flipH="1" flipV="1">
            <a:off x="460141" y="2760912"/>
            <a:ext cx="2797982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98" name="Straight Arrow Connector 8"/>
          <p:cNvCxnSpPr>
            <a:stCxn id="396" idx="0"/>
            <a:endCxn id="402" idx="0"/>
          </p:cNvCxnSpPr>
          <p:nvPr/>
        </p:nvCxnSpPr>
        <p:spPr>
          <a:xfrm flipH="1" flipV="1">
            <a:off x="1389072" y="2760912"/>
            <a:ext cx="1869051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399" name="Straight Arrow Connector 9"/>
          <p:cNvCxnSpPr>
            <a:stCxn id="396" idx="0"/>
            <a:endCxn id="401" idx="0"/>
          </p:cNvCxnSpPr>
          <p:nvPr/>
        </p:nvCxnSpPr>
        <p:spPr>
          <a:xfrm flipV="1">
            <a:off x="3258122" y="2760912"/>
            <a:ext cx="917743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400" name="Oval 10"/>
          <p:cNvSpPr/>
          <p:nvPr/>
        </p:nvSpPr>
        <p:spPr>
          <a:xfrm>
            <a:off x="2988252" y="1314895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1" name="Oval 11"/>
          <p:cNvSpPr/>
          <p:nvPr/>
        </p:nvSpPr>
        <p:spPr>
          <a:xfrm>
            <a:off x="3917182" y="2510033"/>
            <a:ext cx="517366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2" name="Oval 12"/>
          <p:cNvSpPr/>
          <p:nvPr/>
        </p:nvSpPr>
        <p:spPr>
          <a:xfrm>
            <a:off x="1130390" y="251003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3" name="Oval 13"/>
          <p:cNvSpPr/>
          <p:nvPr/>
        </p:nvSpPr>
        <p:spPr>
          <a:xfrm>
            <a:off x="201458" y="2510033"/>
            <a:ext cx="517366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404" name="Straight Arrow Connector 14"/>
          <p:cNvCxnSpPr>
            <a:stCxn id="400" idx="0"/>
            <a:endCxn id="403" idx="0"/>
          </p:cNvCxnSpPr>
          <p:nvPr/>
        </p:nvCxnSpPr>
        <p:spPr>
          <a:xfrm flipH="1">
            <a:off x="460141" y="1565774"/>
            <a:ext cx="2786794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405" name="Straight Arrow Connector 15"/>
          <p:cNvCxnSpPr>
            <a:stCxn id="400" idx="0"/>
            <a:endCxn id="402" idx="0"/>
          </p:cNvCxnSpPr>
          <p:nvPr/>
        </p:nvCxnSpPr>
        <p:spPr>
          <a:xfrm flipH="1">
            <a:off x="1389072" y="1565774"/>
            <a:ext cx="1857863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406" name="Straight Arrow Connector 16"/>
          <p:cNvCxnSpPr>
            <a:stCxn id="400" idx="0"/>
            <a:endCxn id="401" idx="0"/>
          </p:cNvCxnSpPr>
          <p:nvPr/>
        </p:nvCxnSpPr>
        <p:spPr>
          <a:xfrm>
            <a:off x="3246934" y="1565774"/>
            <a:ext cx="928931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407" name="Straight Arrow Connector 23"/>
          <p:cNvCxnSpPr>
            <a:stCxn id="396" idx="0"/>
            <a:endCxn id="410" idx="0"/>
          </p:cNvCxnSpPr>
          <p:nvPr/>
        </p:nvCxnSpPr>
        <p:spPr>
          <a:xfrm flipV="1">
            <a:off x="3258122" y="2760912"/>
            <a:ext cx="1846674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408" name="Straight Arrow Connector 24"/>
          <p:cNvCxnSpPr>
            <a:stCxn id="396" idx="0"/>
            <a:endCxn id="409" idx="0"/>
          </p:cNvCxnSpPr>
          <p:nvPr/>
        </p:nvCxnSpPr>
        <p:spPr>
          <a:xfrm flipV="1">
            <a:off x="3258122" y="2760912"/>
            <a:ext cx="2775605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409" name="Oval 25"/>
          <p:cNvSpPr/>
          <p:nvPr/>
        </p:nvSpPr>
        <p:spPr>
          <a:xfrm>
            <a:off x="5775044" y="251003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0" name="Oval 26"/>
          <p:cNvSpPr/>
          <p:nvPr/>
        </p:nvSpPr>
        <p:spPr>
          <a:xfrm>
            <a:off x="4846113" y="251003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411" name="Straight Arrow Connector 27"/>
          <p:cNvCxnSpPr>
            <a:stCxn id="400" idx="0"/>
            <a:endCxn id="410" idx="0"/>
          </p:cNvCxnSpPr>
          <p:nvPr/>
        </p:nvCxnSpPr>
        <p:spPr>
          <a:xfrm>
            <a:off x="3246934" y="1565774"/>
            <a:ext cx="1857862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412" name="Straight Arrow Connector 28"/>
          <p:cNvCxnSpPr>
            <a:stCxn id="400" idx="0"/>
            <a:endCxn id="409" idx="0"/>
          </p:cNvCxnSpPr>
          <p:nvPr/>
        </p:nvCxnSpPr>
        <p:spPr>
          <a:xfrm>
            <a:off x="3246934" y="1565774"/>
            <a:ext cx="2786793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413" name="Straight Arrow Connector 41"/>
          <p:cNvCxnSpPr>
            <a:stCxn id="396" idx="0"/>
            <a:endCxn id="414" idx="0"/>
          </p:cNvCxnSpPr>
          <p:nvPr/>
        </p:nvCxnSpPr>
        <p:spPr>
          <a:xfrm flipH="1" flipV="1">
            <a:off x="3246934" y="2760912"/>
            <a:ext cx="11189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414" name="Oval 42"/>
          <p:cNvSpPr/>
          <p:nvPr/>
        </p:nvSpPr>
        <p:spPr>
          <a:xfrm>
            <a:off x="2988252" y="251003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415" name="Straight Arrow Connector 43"/>
          <p:cNvCxnSpPr>
            <a:stCxn id="400" idx="0"/>
            <a:endCxn id="414" idx="0"/>
          </p:cNvCxnSpPr>
          <p:nvPr/>
        </p:nvCxnSpPr>
        <p:spPr>
          <a:xfrm>
            <a:off x="3246934" y="1565774"/>
            <a:ext cx="1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416" name="Straight Arrow Connector 49"/>
          <p:cNvCxnSpPr>
            <a:stCxn id="396" idx="0"/>
            <a:endCxn id="417" idx="0"/>
          </p:cNvCxnSpPr>
          <p:nvPr/>
        </p:nvCxnSpPr>
        <p:spPr>
          <a:xfrm flipH="1" flipV="1">
            <a:off x="2318003" y="2760912"/>
            <a:ext cx="940120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417" name="Oval 50"/>
          <p:cNvSpPr/>
          <p:nvPr/>
        </p:nvSpPr>
        <p:spPr>
          <a:xfrm>
            <a:off x="2059321" y="251003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418" name="Straight Arrow Connector 51"/>
          <p:cNvCxnSpPr>
            <a:stCxn id="400" idx="0"/>
            <a:endCxn id="417" idx="0"/>
          </p:cNvCxnSpPr>
          <p:nvPr/>
        </p:nvCxnSpPr>
        <p:spPr>
          <a:xfrm flipH="1">
            <a:off x="2318003" y="1565774"/>
            <a:ext cx="928932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419" name="Straight Connector 86"/>
          <p:cNvSpPr/>
          <p:nvPr/>
        </p:nvSpPr>
        <p:spPr>
          <a:xfrm>
            <a:off x="296988" y="2051349"/>
            <a:ext cx="8213899" cy="1"/>
          </a:xfrm>
          <a:prstGeom prst="line">
            <a:avLst/>
          </a:prstGeom>
          <a:ln w="25400">
            <a:solidFill>
              <a:srgbClr val="FF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0" name="Straight Connector 87"/>
          <p:cNvSpPr/>
          <p:nvPr/>
        </p:nvSpPr>
        <p:spPr>
          <a:xfrm>
            <a:off x="296988" y="3404849"/>
            <a:ext cx="8213899" cy="1"/>
          </a:xfrm>
          <a:prstGeom prst="line">
            <a:avLst/>
          </a:prstGeom>
          <a:ln w="25400">
            <a:solidFill>
              <a:srgbClr val="FF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1" name="Straight Arrow Connector 2"/>
          <p:cNvSpPr/>
          <p:nvPr/>
        </p:nvSpPr>
        <p:spPr>
          <a:xfrm flipH="1">
            <a:off x="7026677" y="1332380"/>
            <a:ext cx="27611" cy="1437940"/>
          </a:xfrm>
          <a:prstGeom prst="line">
            <a:avLst/>
          </a:prstGeom>
          <a:ln w="76200">
            <a:solidFill>
              <a:srgbClr val="FF0000"/>
            </a:solidFill>
            <a:headEnd type="triangle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" name="TextBox 4"/>
          <p:cNvSpPr txBox="1"/>
          <p:nvPr/>
        </p:nvSpPr>
        <p:spPr>
          <a:xfrm>
            <a:off x="7348495" y="2134627"/>
            <a:ext cx="1086407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IOSP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Oval 3"/>
          <p:cNvSpPr/>
          <p:nvPr/>
        </p:nvSpPr>
        <p:spPr>
          <a:xfrm>
            <a:off x="2660053" y="2828471"/>
            <a:ext cx="2056927" cy="676483"/>
          </a:xfrm>
          <a:prstGeom prst="ellipse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5" name="Rectangle 4"/>
          <p:cNvSpPr/>
          <p:nvPr/>
        </p:nvSpPr>
        <p:spPr>
          <a:xfrm rot="19731541">
            <a:off x="2673859" y="1199394"/>
            <a:ext cx="676440" cy="1960416"/>
          </a:xfrm>
          <a:prstGeom prst="rect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6" name="TextBox 5"/>
          <p:cNvSpPr txBox="1"/>
          <p:nvPr/>
        </p:nvSpPr>
        <p:spPr>
          <a:xfrm>
            <a:off x="3854189" y="1808558"/>
            <a:ext cx="2158087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Nervenzelle</a:t>
            </a:r>
          </a:p>
        </p:txBody>
      </p:sp>
      <p:sp>
        <p:nvSpPr>
          <p:cNvPr id="427" name="Oval 7"/>
          <p:cNvSpPr/>
          <p:nvPr/>
        </p:nvSpPr>
        <p:spPr>
          <a:xfrm>
            <a:off x="2540103" y="3671158"/>
            <a:ext cx="3009461" cy="941273"/>
          </a:xfrm>
          <a:prstGeom prst="ellipse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Rectangle 8"/>
          <p:cNvSpPr/>
          <p:nvPr/>
        </p:nvSpPr>
        <p:spPr>
          <a:xfrm rot="15920702">
            <a:off x="1915312" y="3215569"/>
            <a:ext cx="676440" cy="1960416"/>
          </a:xfrm>
          <a:prstGeom prst="rect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9" name="Rectangle 9"/>
          <p:cNvSpPr/>
          <p:nvPr/>
        </p:nvSpPr>
        <p:spPr>
          <a:xfrm rot="15920702">
            <a:off x="5631017" y="3107605"/>
            <a:ext cx="676440" cy="1960416"/>
          </a:xfrm>
          <a:prstGeom prst="rect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0" name="TextBox 10"/>
          <p:cNvSpPr txBox="1"/>
          <p:nvPr/>
        </p:nvSpPr>
        <p:spPr>
          <a:xfrm>
            <a:off x="5086973" y="4612430"/>
            <a:ext cx="2235303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Muskelzelle</a:t>
            </a:r>
          </a:p>
        </p:txBody>
      </p:sp>
      <p:sp>
        <p:nvSpPr>
          <p:cNvPr id="431" name="TextBox 20"/>
          <p:cNvSpPr txBox="1"/>
          <p:nvPr/>
        </p:nvSpPr>
        <p:spPr>
          <a:xfrm>
            <a:off x="851305" y="98288"/>
            <a:ext cx="7338862" cy="1031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5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Motorische Endplatte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Oval 3"/>
          <p:cNvSpPr/>
          <p:nvPr/>
        </p:nvSpPr>
        <p:spPr>
          <a:xfrm>
            <a:off x="2660053" y="2828471"/>
            <a:ext cx="2056927" cy="676483"/>
          </a:xfrm>
          <a:prstGeom prst="ellipse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Rectangle 4"/>
          <p:cNvSpPr/>
          <p:nvPr/>
        </p:nvSpPr>
        <p:spPr>
          <a:xfrm rot="19731541">
            <a:off x="2673859" y="1199394"/>
            <a:ext cx="676440" cy="1960416"/>
          </a:xfrm>
          <a:prstGeom prst="rect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5" name="TextBox 5"/>
          <p:cNvSpPr txBox="1"/>
          <p:nvPr/>
        </p:nvSpPr>
        <p:spPr>
          <a:xfrm>
            <a:off x="3854189" y="1808558"/>
            <a:ext cx="2158087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Nervenzelle</a:t>
            </a:r>
          </a:p>
        </p:txBody>
      </p:sp>
      <p:sp>
        <p:nvSpPr>
          <p:cNvPr id="436" name="Lightning Bolt 6"/>
          <p:cNvSpPr/>
          <p:nvPr/>
        </p:nvSpPr>
        <p:spPr>
          <a:xfrm>
            <a:off x="2540101" y="1551184"/>
            <a:ext cx="717854" cy="8421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472" y="0"/>
                </a:moveTo>
                <a:lnTo>
                  <a:pt x="12860" y="6080"/>
                </a:lnTo>
                <a:lnTo>
                  <a:pt x="11050" y="6797"/>
                </a:lnTo>
                <a:lnTo>
                  <a:pt x="16577" y="12007"/>
                </a:lnTo>
                <a:lnTo>
                  <a:pt x="14767" y="12877"/>
                </a:lnTo>
                <a:lnTo>
                  <a:pt x="21600" y="21600"/>
                </a:lnTo>
                <a:lnTo>
                  <a:pt x="10012" y="14915"/>
                </a:lnTo>
                <a:lnTo>
                  <a:pt x="12222" y="13987"/>
                </a:lnTo>
                <a:lnTo>
                  <a:pt x="5022" y="9705"/>
                </a:lnTo>
                <a:lnTo>
                  <a:pt x="7602" y="8382"/>
                </a:lnTo>
                <a:lnTo>
                  <a:pt x="0" y="389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7" name="Oval 7"/>
          <p:cNvSpPr/>
          <p:nvPr/>
        </p:nvSpPr>
        <p:spPr>
          <a:xfrm>
            <a:off x="2540103" y="3671158"/>
            <a:ext cx="3009461" cy="941273"/>
          </a:xfrm>
          <a:prstGeom prst="ellipse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8" name="Rectangle 8"/>
          <p:cNvSpPr/>
          <p:nvPr/>
        </p:nvSpPr>
        <p:spPr>
          <a:xfrm rot="15920702">
            <a:off x="1915312" y="3215569"/>
            <a:ext cx="676440" cy="1960416"/>
          </a:xfrm>
          <a:prstGeom prst="rect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" name="Rectangle 9"/>
          <p:cNvSpPr/>
          <p:nvPr/>
        </p:nvSpPr>
        <p:spPr>
          <a:xfrm rot="15920702">
            <a:off x="5631017" y="3107605"/>
            <a:ext cx="676440" cy="1960416"/>
          </a:xfrm>
          <a:prstGeom prst="rect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TextBox 10"/>
          <p:cNvSpPr txBox="1"/>
          <p:nvPr/>
        </p:nvSpPr>
        <p:spPr>
          <a:xfrm>
            <a:off x="5086973" y="4612430"/>
            <a:ext cx="2235303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Muskelzelle</a:t>
            </a:r>
          </a:p>
        </p:txBody>
      </p:sp>
      <p:sp>
        <p:nvSpPr>
          <p:cNvPr id="441" name="TextBox 20"/>
          <p:cNvSpPr txBox="1"/>
          <p:nvPr/>
        </p:nvSpPr>
        <p:spPr>
          <a:xfrm>
            <a:off x="851305" y="98288"/>
            <a:ext cx="7338862" cy="1031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5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Motorische Endplatte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Oval 3"/>
          <p:cNvSpPr/>
          <p:nvPr/>
        </p:nvSpPr>
        <p:spPr>
          <a:xfrm>
            <a:off x="2660053" y="2828471"/>
            <a:ext cx="2056927" cy="676483"/>
          </a:xfrm>
          <a:prstGeom prst="ellipse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4" name="Rectangle 4"/>
          <p:cNvSpPr/>
          <p:nvPr/>
        </p:nvSpPr>
        <p:spPr>
          <a:xfrm rot="19731541">
            <a:off x="2673859" y="1199394"/>
            <a:ext cx="676440" cy="1960416"/>
          </a:xfrm>
          <a:prstGeom prst="rect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5" name="TextBox 5"/>
          <p:cNvSpPr txBox="1"/>
          <p:nvPr/>
        </p:nvSpPr>
        <p:spPr>
          <a:xfrm>
            <a:off x="3854189" y="1808558"/>
            <a:ext cx="2158087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Nervenzelle</a:t>
            </a:r>
          </a:p>
        </p:txBody>
      </p:sp>
      <p:sp>
        <p:nvSpPr>
          <p:cNvPr id="446" name="Lightning Bolt 6"/>
          <p:cNvSpPr/>
          <p:nvPr/>
        </p:nvSpPr>
        <p:spPr>
          <a:xfrm>
            <a:off x="2540101" y="1551184"/>
            <a:ext cx="717854" cy="8421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472" y="0"/>
                </a:moveTo>
                <a:lnTo>
                  <a:pt x="12860" y="6080"/>
                </a:lnTo>
                <a:lnTo>
                  <a:pt x="11050" y="6797"/>
                </a:lnTo>
                <a:lnTo>
                  <a:pt x="16577" y="12007"/>
                </a:lnTo>
                <a:lnTo>
                  <a:pt x="14767" y="12877"/>
                </a:lnTo>
                <a:lnTo>
                  <a:pt x="21600" y="21600"/>
                </a:lnTo>
                <a:lnTo>
                  <a:pt x="10012" y="14915"/>
                </a:lnTo>
                <a:lnTo>
                  <a:pt x="12222" y="13987"/>
                </a:lnTo>
                <a:lnTo>
                  <a:pt x="5022" y="9705"/>
                </a:lnTo>
                <a:lnTo>
                  <a:pt x="7602" y="8382"/>
                </a:lnTo>
                <a:lnTo>
                  <a:pt x="0" y="389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" name="Oval 7"/>
          <p:cNvSpPr/>
          <p:nvPr/>
        </p:nvSpPr>
        <p:spPr>
          <a:xfrm>
            <a:off x="2540103" y="3671158"/>
            <a:ext cx="3009461" cy="941273"/>
          </a:xfrm>
          <a:prstGeom prst="ellipse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8" name="Rectangle 8"/>
          <p:cNvSpPr/>
          <p:nvPr/>
        </p:nvSpPr>
        <p:spPr>
          <a:xfrm rot="15920702">
            <a:off x="1915312" y="3215569"/>
            <a:ext cx="676440" cy="1960416"/>
          </a:xfrm>
          <a:prstGeom prst="rect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9" name="Rectangle 9"/>
          <p:cNvSpPr/>
          <p:nvPr/>
        </p:nvSpPr>
        <p:spPr>
          <a:xfrm rot="15920702">
            <a:off x="5631017" y="3107605"/>
            <a:ext cx="676440" cy="1960416"/>
          </a:xfrm>
          <a:prstGeom prst="rect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TextBox 10"/>
          <p:cNvSpPr txBox="1"/>
          <p:nvPr/>
        </p:nvSpPr>
        <p:spPr>
          <a:xfrm>
            <a:off x="5086973" y="4612430"/>
            <a:ext cx="2235303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Muskelzelle</a:t>
            </a:r>
          </a:p>
        </p:txBody>
      </p:sp>
      <p:sp>
        <p:nvSpPr>
          <p:cNvPr id="451" name="Oval 11"/>
          <p:cNvSpPr/>
          <p:nvPr/>
        </p:nvSpPr>
        <p:spPr>
          <a:xfrm>
            <a:off x="3050881" y="3510422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2" name="Oval 12"/>
          <p:cNvSpPr/>
          <p:nvPr/>
        </p:nvSpPr>
        <p:spPr>
          <a:xfrm>
            <a:off x="3257956" y="3551302"/>
            <a:ext cx="124245" cy="96642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Oval 13"/>
          <p:cNvSpPr/>
          <p:nvPr/>
        </p:nvSpPr>
        <p:spPr>
          <a:xfrm>
            <a:off x="3548948" y="3533638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4" name="Oval 14"/>
          <p:cNvSpPr/>
          <p:nvPr/>
        </p:nvSpPr>
        <p:spPr>
          <a:xfrm>
            <a:off x="3808469" y="3534174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5" name="Oval 15"/>
          <p:cNvSpPr/>
          <p:nvPr/>
        </p:nvSpPr>
        <p:spPr>
          <a:xfrm>
            <a:off x="4129845" y="3537973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6" name="Oval 16"/>
          <p:cNvSpPr/>
          <p:nvPr/>
        </p:nvSpPr>
        <p:spPr>
          <a:xfrm>
            <a:off x="4392684" y="3475909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Oval 17"/>
          <p:cNvSpPr/>
          <p:nvPr/>
        </p:nvSpPr>
        <p:spPr>
          <a:xfrm>
            <a:off x="4654856" y="3441332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8" name="Oval 18"/>
          <p:cNvSpPr/>
          <p:nvPr/>
        </p:nvSpPr>
        <p:spPr>
          <a:xfrm>
            <a:off x="2871416" y="3581958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9" name="TextBox 19"/>
          <p:cNvSpPr txBox="1"/>
          <p:nvPr/>
        </p:nvSpPr>
        <p:spPr>
          <a:xfrm>
            <a:off x="5029446" y="2925647"/>
            <a:ext cx="2376324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solidFill>
                  <a:srgbClr val="008000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Acetylcholin</a:t>
            </a:r>
          </a:p>
        </p:txBody>
      </p:sp>
      <p:sp>
        <p:nvSpPr>
          <p:cNvPr id="460" name="TextBox 20"/>
          <p:cNvSpPr txBox="1"/>
          <p:nvPr/>
        </p:nvSpPr>
        <p:spPr>
          <a:xfrm>
            <a:off x="851305" y="98288"/>
            <a:ext cx="7338862" cy="1031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5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Motorische Endplatte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Oval 3"/>
          <p:cNvSpPr/>
          <p:nvPr/>
        </p:nvSpPr>
        <p:spPr>
          <a:xfrm>
            <a:off x="2660053" y="2828471"/>
            <a:ext cx="2056927" cy="676483"/>
          </a:xfrm>
          <a:prstGeom prst="ellipse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3" name="Rectangle 4"/>
          <p:cNvSpPr/>
          <p:nvPr/>
        </p:nvSpPr>
        <p:spPr>
          <a:xfrm rot="19731541">
            <a:off x="2673859" y="1199394"/>
            <a:ext cx="676440" cy="1960416"/>
          </a:xfrm>
          <a:prstGeom prst="rect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4" name="TextBox 5"/>
          <p:cNvSpPr txBox="1"/>
          <p:nvPr/>
        </p:nvSpPr>
        <p:spPr>
          <a:xfrm>
            <a:off x="3854189" y="1808558"/>
            <a:ext cx="2158087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Nervenzelle</a:t>
            </a:r>
          </a:p>
        </p:txBody>
      </p:sp>
      <p:sp>
        <p:nvSpPr>
          <p:cNvPr id="465" name="Lightning Bolt 6"/>
          <p:cNvSpPr/>
          <p:nvPr/>
        </p:nvSpPr>
        <p:spPr>
          <a:xfrm>
            <a:off x="2540101" y="1551184"/>
            <a:ext cx="717854" cy="8421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472" y="0"/>
                </a:moveTo>
                <a:lnTo>
                  <a:pt x="12860" y="6080"/>
                </a:lnTo>
                <a:lnTo>
                  <a:pt x="11050" y="6797"/>
                </a:lnTo>
                <a:lnTo>
                  <a:pt x="16577" y="12007"/>
                </a:lnTo>
                <a:lnTo>
                  <a:pt x="14767" y="12877"/>
                </a:lnTo>
                <a:lnTo>
                  <a:pt x="21600" y="21600"/>
                </a:lnTo>
                <a:lnTo>
                  <a:pt x="10012" y="14915"/>
                </a:lnTo>
                <a:lnTo>
                  <a:pt x="12222" y="13987"/>
                </a:lnTo>
                <a:lnTo>
                  <a:pt x="5022" y="9705"/>
                </a:lnTo>
                <a:lnTo>
                  <a:pt x="7602" y="8382"/>
                </a:lnTo>
                <a:lnTo>
                  <a:pt x="0" y="389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Oval 7"/>
          <p:cNvSpPr/>
          <p:nvPr/>
        </p:nvSpPr>
        <p:spPr>
          <a:xfrm>
            <a:off x="2763161" y="3657889"/>
            <a:ext cx="2374439" cy="1325983"/>
          </a:xfrm>
          <a:prstGeom prst="ellipse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7" name="Rectangle 8"/>
          <p:cNvSpPr/>
          <p:nvPr/>
        </p:nvSpPr>
        <p:spPr>
          <a:xfrm rot="15920702">
            <a:off x="2315659" y="3331510"/>
            <a:ext cx="676440" cy="1960417"/>
          </a:xfrm>
          <a:prstGeom prst="rect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8" name="Rectangle 9"/>
          <p:cNvSpPr/>
          <p:nvPr/>
        </p:nvSpPr>
        <p:spPr>
          <a:xfrm rot="15920702">
            <a:off x="5053395" y="3273814"/>
            <a:ext cx="676440" cy="1960416"/>
          </a:xfrm>
          <a:prstGeom prst="rect">
            <a:avLst/>
          </a:prstGeom>
          <a:solidFill>
            <a:srgbClr val="558ED5"/>
          </a:solidFill>
          <a:ln w="3175">
            <a:solidFill>
              <a:srgbClr val="558ED5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9" name="TextBox 10"/>
          <p:cNvSpPr txBox="1"/>
          <p:nvPr/>
        </p:nvSpPr>
        <p:spPr>
          <a:xfrm>
            <a:off x="5086973" y="4612430"/>
            <a:ext cx="2235303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Muskelzelle</a:t>
            </a:r>
          </a:p>
        </p:txBody>
      </p:sp>
      <p:sp>
        <p:nvSpPr>
          <p:cNvPr id="470" name="Oval 11"/>
          <p:cNvSpPr/>
          <p:nvPr/>
        </p:nvSpPr>
        <p:spPr>
          <a:xfrm>
            <a:off x="3050881" y="3510422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Oval 12"/>
          <p:cNvSpPr/>
          <p:nvPr/>
        </p:nvSpPr>
        <p:spPr>
          <a:xfrm>
            <a:off x="3257956" y="3551302"/>
            <a:ext cx="124245" cy="96642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2" name="Oval 13"/>
          <p:cNvSpPr/>
          <p:nvPr/>
        </p:nvSpPr>
        <p:spPr>
          <a:xfrm>
            <a:off x="3548948" y="3533638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3" name="Oval 14"/>
          <p:cNvSpPr/>
          <p:nvPr/>
        </p:nvSpPr>
        <p:spPr>
          <a:xfrm>
            <a:off x="3808469" y="3534174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4" name="Oval 15"/>
          <p:cNvSpPr/>
          <p:nvPr/>
        </p:nvSpPr>
        <p:spPr>
          <a:xfrm>
            <a:off x="4129845" y="3537973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Oval 16"/>
          <p:cNvSpPr/>
          <p:nvPr/>
        </p:nvSpPr>
        <p:spPr>
          <a:xfrm>
            <a:off x="4392684" y="3475909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6" name="Oval 17"/>
          <p:cNvSpPr/>
          <p:nvPr/>
        </p:nvSpPr>
        <p:spPr>
          <a:xfrm>
            <a:off x="4654856" y="3441332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7" name="Oval 18"/>
          <p:cNvSpPr/>
          <p:nvPr/>
        </p:nvSpPr>
        <p:spPr>
          <a:xfrm>
            <a:off x="2871416" y="3581958"/>
            <a:ext cx="124245" cy="96641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8" name="TextBox 19"/>
          <p:cNvSpPr txBox="1"/>
          <p:nvPr/>
        </p:nvSpPr>
        <p:spPr>
          <a:xfrm>
            <a:off x="5029446" y="2925647"/>
            <a:ext cx="2376324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solidFill>
                  <a:srgbClr val="008000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Acetylcholin</a:t>
            </a:r>
          </a:p>
        </p:txBody>
      </p:sp>
      <p:sp>
        <p:nvSpPr>
          <p:cNvPr id="479" name="TextBox 20"/>
          <p:cNvSpPr txBox="1"/>
          <p:nvPr/>
        </p:nvSpPr>
        <p:spPr>
          <a:xfrm>
            <a:off x="851305" y="98288"/>
            <a:ext cx="7338862" cy="1031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5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Motorische Endplatte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Oval 3"/>
          <p:cNvSpPr/>
          <p:nvPr/>
        </p:nvSpPr>
        <p:spPr>
          <a:xfrm>
            <a:off x="5340879" y="2590261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2" name="Oval 4"/>
          <p:cNvSpPr/>
          <p:nvPr/>
        </p:nvSpPr>
        <p:spPr>
          <a:xfrm>
            <a:off x="3293752" y="2590261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3" name="Straight Arrow Connector 5"/>
          <p:cNvSpPr/>
          <p:nvPr/>
        </p:nvSpPr>
        <p:spPr>
          <a:xfrm flipH="1">
            <a:off x="4130260" y="2742124"/>
            <a:ext cx="1060372" cy="1"/>
          </a:xfrm>
          <a:prstGeom prst="line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4" name="Straight Arrow Connector 8"/>
          <p:cNvSpPr/>
          <p:nvPr/>
        </p:nvSpPr>
        <p:spPr>
          <a:xfrm>
            <a:off x="4058632" y="2953958"/>
            <a:ext cx="1060372" cy="1"/>
          </a:xfrm>
          <a:prstGeom prst="line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5" name="Lightning Bolt 12"/>
          <p:cNvSpPr/>
          <p:nvPr/>
        </p:nvSpPr>
        <p:spPr>
          <a:xfrm>
            <a:off x="4197653" y="2362467"/>
            <a:ext cx="717854" cy="8421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472" y="0"/>
                </a:moveTo>
                <a:lnTo>
                  <a:pt x="12860" y="6080"/>
                </a:lnTo>
                <a:lnTo>
                  <a:pt x="11050" y="6797"/>
                </a:lnTo>
                <a:lnTo>
                  <a:pt x="16577" y="12007"/>
                </a:lnTo>
                <a:lnTo>
                  <a:pt x="14767" y="12877"/>
                </a:lnTo>
                <a:lnTo>
                  <a:pt x="21600" y="21600"/>
                </a:lnTo>
                <a:lnTo>
                  <a:pt x="10012" y="14915"/>
                </a:lnTo>
                <a:lnTo>
                  <a:pt x="12222" y="13987"/>
                </a:lnTo>
                <a:lnTo>
                  <a:pt x="5022" y="9705"/>
                </a:lnTo>
                <a:lnTo>
                  <a:pt x="7602" y="8382"/>
                </a:lnTo>
                <a:lnTo>
                  <a:pt x="0" y="389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6" name="TextBox 13"/>
          <p:cNvSpPr txBox="1"/>
          <p:nvPr/>
        </p:nvSpPr>
        <p:spPr>
          <a:xfrm>
            <a:off x="1860991" y="345143"/>
            <a:ext cx="5422018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P</a:t>
            </a:r>
            <a:r>
              <a:rPr>
                <a:solidFill>
                  <a:srgbClr val="000000"/>
                </a:solidFill>
              </a:rPr>
              <a:t>rinciple </a:t>
            </a:r>
            <a:r>
              <a:t>o</a:t>
            </a:r>
            <a:r>
              <a:rPr>
                <a:solidFill>
                  <a:srgbClr val="000000"/>
                </a:solidFill>
              </a:rPr>
              <a:t>f </a:t>
            </a:r>
            <a:r>
              <a:t>M</a:t>
            </a:r>
            <a:r>
              <a:rPr>
                <a:solidFill>
                  <a:srgbClr val="000000"/>
                </a:solidFill>
              </a:rPr>
              <a:t>utual</a:t>
            </a:r>
            <a:endParaRPr>
              <a:solidFill>
                <a:srgbClr val="000000"/>
              </a:solidFill>
            </a:endParaRPr>
          </a:p>
          <a:p>
            <a:pPr algn="ctr">
              <a:defRPr sz="44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O</a:t>
            </a:r>
            <a:r>
              <a:rPr>
                <a:solidFill>
                  <a:srgbClr val="000000"/>
                </a:solidFill>
              </a:rPr>
              <a:t>blivion (</a:t>
            </a:r>
            <a:r>
              <a:t>PoMO</a:t>
            </a:r>
            <a:r>
              <a:rPr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87" name="Rectangle 14"/>
          <p:cNvSpPr txBox="1"/>
          <p:nvPr/>
        </p:nvSpPr>
        <p:spPr>
          <a:xfrm>
            <a:off x="2562454" y="3713729"/>
            <a:ext cx="4019093" cy="218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Prinzip der</a:t>
            </a:r>
          </a:p>
          <a:p>
            <a:pPr algn="ctr">
              <a:defRPr sz="4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gegenseitigen</a:t>
            </a:r>
          </a:p>
          <a:p>
            <a:pPr algn="ctr">
              <a:defRPr sz="4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Nichtbeachtung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Oval 6"/>
          <p:cNvSpPr/>
          <p:nvPr/>
        </p:nvSpPr>
        <p:spPr>
          <a:xfrm>
            <a:off x="2999440" y="3750314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490" name="Straight Arrow Connector 7"/>
          <p:cNvCxnSpPr>
            <a:stCxn id="489" idx="0"/>
            <a:endCxn id="496" idx="0"/>
          </p:cNvCxnSpPr>
          <p:nvPr/>
        </p:nvCxnSpPr>
        <p:spPr>
          <a:xfrm flipH="1" flipV="1">
            <a:off x="460141" y="2760912"/>
            <a:ext cx="2797982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491" name="Straight Arrow Connector 8"/>
          <p:cNvCxnSpPr>
            <a:stCxn id="489" idx="0"/>
            <a:endCxn id="495" idx="0"/>
          </p:cNvCxnSpPr>
          <p:nvPr/>
        </p:nvCxnSpPr>
        <p:spPr>
          <a:xfrm flipH="1" flipV="1">
            <a:off x="1389072" y="2760912"/>
            <a:ext cx="1869051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492" name="Straight Arrow Connector 9"/>
          <p:cNvCxnSpPr>
            <a:stCxn id="489" idx="0"/>
            <a:endCxn id="494" idx="0"/>
          </p:cNvCxnSpPr>
          <p:nvPr/>
        </p:nvCxnSpPr>
        <p:spPr>
          <a:xfrm flipV="1">
            <a:off x="3258122" y="2760912"/>
            <a:ext cx="917743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493" name="Oval 10"/>
          <p:cNvSpPr/>
          <p:nvPr/>
        </p:nvSpPr>
        <p:spPr>
          <a:xfrm>
            <a:off x="2988252" y="1314895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4" name="Oval 11"/>
          <p:cNvSpPr/>
          <p:nvPr/>
        </p:nvSpPr>
        <p:spPr>
          <a:xfrm>
            <a:off x="3917182" y="2510033"/>
            <a:ext cx="517366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5" name="Oval 12"/>
          <p:cNvSpPr/>
          <p:nvPr/>
        </p:nvSpPr>
        <p:spPr>
          <a:xfrm>
            <a:off x="1130390" y="251003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6" name="Oval 13"/>
          <p:cNvSpPr/>
          <p:nvPr/>
        </p:nvSpPr>
        <p:spPr>
          <a:xfrm>
            <a:off x="201458" y="2510033"/>
            <a:ext cx="517366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497" name="Straight Arrow Connector 14"/>
          <p:cNvCxnSpPr>
            <a:stCxn id="493" idx="0"/>
            <a:endCxn id="496" idx="0"/>
          </p:cNvCxnSpPr>
          <p:nvPr/>
        </p:nvCxnSpPr>
        <p:spPr>
          <a:xfrm flipH="1">
            <a:off x="460141" y="1565774"/>
            <a:ext cx="2786794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498" name="Straight Arrow Connector 15"/>
          <p:cNvCxnSpPr>
            <a:stCxn id="493" idx="0"/>
            <a:endCxn id="495" idx="0"/>
          </p:cNvCxnSpPr>
          <p:nvPr/>
        </p:nvCxnSpPr>
        <p:spPr>
          <a:xfrm flipH="1">
            <a:off x="1389072" y="1565774"/>
            <a:ext cx="1857863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499" name="Straight Arrow Connector 16"/>
          <p:cNvCxnSpPr>
            <a:stCxn id="493" idx="0"/>
            <a:endCxn id="494" idx="0"/>
          </p:cNvCxnSpPr>
          <p:nvPr/>
        </p:nvCxnSpPr>
        <p:spPr>
          <a:xfrm>
            <a:off x="3246934" y="1565774"/>
            <a:ext cx="928931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500" name="Straight Arrow Connector 23"/>
          <p:cNvCxnSpPr>
            <a:stCxn id="489" idx="0"/>
            <a:endCxn id="503" idx="0"/>
          </p:cNvCxnSpPr>
          <p:nvPr/>
        </p:nvCxnSpPr>
        <p:spPr>
          <a:xfrm flipV="1">
            <a:off x="3258122" y="2760912"/>
            <a:ext cx="1846674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501" name="Straight Arrow Connector 24"/>
          <p:cNvCxnSpPr>
            <a:stCxn id="489" idx="0"/>
            <a:endCxn id="502" idx="0"/>
          </p:cNvCxnSpPr>
          <p:nvPr/>
        </p:nvCxnSpPr>
        <p:spPr>
          <a:xfrm flipV="1">
            <a:off x="3258122" y="2760912"/>
            <a:ext cx="2775605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502" name="Oval 25"/>
          <p:cNvSpPr/>
          <p:nvPr/>
        </p:nvSpPr>
        <p:spPr>
          <a:xfrm>
            <a:off x="5775044" y="251003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3" name="Oval 26"/>
          <p:cNvSpPr/>
          <p:nvPr/>
        </p:nvSpPr>
        <p:spPr>
          <a:xfrm>
            <a:off x="4846113" y="251003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504" name="Straight Arrow Connector 27"/>
          <p:cNvCxnSpPr>
            <a:stCxn id="493" idx="0"/>
            <a:endCxn id="503" idx="0"/>
          </p:cNvCxnSpPr>
          <p:nvPr/>
        </p:nvCxnSpPr>
        <p:spPr>
          <a:xfrm>
            <a:off x="3246934" y="1565774"/>
            <a:ext cx="1857862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505" name="Straight Arrow Connector 28"/>
          <p:cNvCxnSpPr>
            <a:stCxn id="493" idx="0"/>
            <a:endCxn id="502" idx="0"/>
          </p:cNvCxnSpPr>
          <p:nvPr/>
        </p:nvCxnSpPr>
        <p:spPr>
          <a:xfrm>
            <a:off x="3246934" y="1565774"/>
            <a:ext cx="2786793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506" name="Straight Arrow Connector 41"/>
          <p:cNvCxnSpPr>
            <a:stCxn id="489" idx="0"/>
            <a:endCxn id="507" idx="0"/>
          </p:cNvCxnSpPr>
          <p:nvPr/>
        </p:nvCxnSpPr>
        <p:spPr>
          <a:xfrm flipH="1" flipV="1">
            <a:off x="3246934" y="2760912"/>
            <a:ext cx="11189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507" name="Oval 42"/>
          <p:cNvSpPr/>
          <p:nvPr/>
        </p:nvSpPr>
        <p:spPr>
          <a:xfrm>
            <a:off x="2988252" y="251003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508" name="Straight Arrow Connector 43"/>
          <p:cNvCxnSpPr>
            <a:stCxn id="493" idx="0"/>
            <a:endCxn id="507" idx="0"/>
          </p:cNvCxnSpPr>
          <p:nvPr/>
        </p:nvCxnSpPr>
        <p:spPr>
          <a:xfrm>
            <a:off x="3246934" y="1565774"/>
            <a:ext cx="1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509" name="Straight Arrow Connector 49"/>
          <p:cNvCxnSpPr>
            <a:stCxn id="489" idx="0"/>
            <a:endCxn id="510" idx="0"/>
          </p:cNvCxnSpPr>
          <p:nvPr/>
        </p:nvCxnSpPr>
        <p:spPr>
          <a:xfrm flipH="1" flipV="1">
            <a:off x="2318003" y="2760912"/>
            <a:ext cx="940120" cy="1240282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510" name="Oval 50"/>
          <p:cNvSpPr/>
          <p:nvPr/>
        </p:nvSpPr>
        <p:spPr>
          <a:xfrm>
            <a:off x="2059321" y="251003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511" name="Straight Arrow Connector 51"/>
          <p:cNvCxnSpPr>
            <a:stCxn id="493" idx="0"/>
            <a:endCxn id="510" idx="0"/>
          </p:cNvCxnSpPr>
          <p:nvPr/>
        </p:nvCxnSpPr>
        <p:spPr>
          <a:xfrm flipH="1">
            <a:off x="2318003" y="1565774"/>
            <a:ext cx="928932" cy="1195139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512" name="Straight Connector 86"/>
          <p:cNvSpPr/>
          <p:nvPr/>
        </p:nvSpPr>
        <p:spPr>
          <a:xfrm>
            <a:off x="296988" y="2051349"/>
            <a:ext cx="8213899" cy="1"/>
          </a:xfrm>
          <a:prstGeom prst="line">
            <a:avLst/>
          </a:prstGeom>
          <a:ln w="25400">
            <a:solidFill>
              <a:srgbClr val="FF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3" name="Straight Connector 87"/>
          <p:cNvSpPr/>
          <p:nvPr/>
        </p:nvSpPr>
        <p:spPr>
          <a:xfrm>
            <a:off x="296988" y="3404849"/>
            <a:ext cx="8213899" cy="1"/>
          </a:xfrm>
          <a:prstGeom prst="line">
            <a:avLst/>
          </a:prstGeom>
          <a:ln w="25400">
            <a:solidFill>
              <a:srgbClr val="FF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4" name="Straight Arrow Connector 29"/>
          <p:cNvSpPr/>
          <p:nvPr/>
        </p:nvSpPr>
        <p:spPr>
          <a:xfrm>
            <a:off x="6430457" y="2333705"/>
            <a:ext cx="1731486" cy="1"/>
          </a:xfrm>
          <a:prstGeom prst="line">
            <a:avLst/>
          </a:prstGeom>
          <a:ln w="76200">
            <a:solidFill>
              <a:srgbClr val="FF0000"/>
            </a:solidFill>
            <a:headEnd type="triangle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5" name="TextBox 30"/>
          <p:cNvSpPr txBox="1"/>
          <p:nvPr/>
        </p:nvSpPr>
        <p:spPr>
          <a:xfrm>
            <a:off x="6656343" y="2410952"/>
            <a:ext cx="1298139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PoMO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Oval 4"/>
          <p:cNvGrpSpPr/>
          <p:nvPr/>
        </p:nvGrpSpPr>
        <p:grpSpPr>
          <a:xfrm>
            <a:off x="3406268" y="2376880"/>
            <a:ext cx="538939" cy="677355"/>
            <a:chOff x="0" y="0"/>
            <a:chExt cx="538937" cy="677354"/>
          </a:xfrm>
        </p:grpSpPr>
        <p:sp>
          <p:nvSpPr>
            <p:cNvPr id="517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8" name="f2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f2</a:t>
              </a:r>
            </a:p>
          </p:txBody>
        </p:sp>
      </p:grpSp>
      <p:grpSp>
        <p:nvGrpSpPr>
          <p:cNvPr id="522" name="Oval 5"/>
          <p:cNvGrpSpPr/>
          <p:nvPr/>
        </p:nvGrpSpPr>
        <p:grpSpPr>
          <a:xfrm>
            <a:off x="1741459" y="2376880"/>
            <a:ext cx="538939" cy="677355"/>
            <a:chOff x="0" y="0"/>
            <a:chExt cx="538937" cy="677353"/>
          </a:xfrm>
        </p:grpSpPr>
        <p:sp>
          <p:nvSpPr>
            <p:cNvPr id="520" name="Oval"/>
            <p:cNvSpPr/>
            <p:nvPr/>
          </p:nvSpPr>
          <p:spPr>
            <a:xfrm>
              <a:off x="0" y="77337"/>
              <a:ext cx="538938" cy="522681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21" name="f1"/>
            <p:cNvSpPr txBox="1"/>
            <p:nvPr/>
          </p:nvSpPr>
          <p:spPr>
            <a:xfrm>
              <a:off x="126551" y="0"/>
              <a:ext cx="285834" cy="677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f1</a:t>
              </a:r>
            </a:p>
          </p:txBody>
        </p:sp>
      </p:grpSp>
      <p:grpSp>
        <p:nvGrpSpPr>
          <p:cNvPr id="525" name="Oval 8"/>
          <p:cNvGrpSpPr/>
          <p:nvPr/>
        </p:nvGrpSpPr>
        <p:grpSpPr>
          <a:xfrm>
            <a:off x="6735887" y="2376880"/>
            <a:ext cx="538938" cy="677355"/>
            <a:chOff x="0" y="0"/>
            <a:chExt cx="538937" cy="677354"/>
          </a:xfrm>
        </p:grpSpPr>
        <p:sp>
          <p:nvSpPr>
            <p:cNvPr id="523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24" name="f4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f4</a:t>
              </a:r>
            </a:p>
          </p:txBody>
        </p:sp>
      </p:grpSp>
      <p:grpSp>
        <p:nvGrpSpPr>
          <p:cNvPr id="528" name="Oval 10"/>
          <p:cNvGrpSpPr/>
          <p:nvPr/>
        </p:nvGrpSpPr>
        <p:grpSpPr>
          <a:xfrm>
            <a:off x="5071078" y="2376880"/>
            <a:ext cx="538938" cy="677355"/>
            <a:chOff x="0" y="0"/>
            <a:chExt cx="538937" cy="677354"/>
          </a:xfrm>
        </p:grpSpPr>
        <p:sp>
          <p:nvSpPr>
            <p:cNvPr id="526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27" name="f3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f3</a:t>
              </a:r>
            </a:p>
          </p:txBody>
        </p:sp>
      </p:grpSp>
      <p:sp>
        <p:nvSpPr>
          <p:cNvPr id="539" name="Straight Arrow Connector 38"/>
          <p:cNvSpPr/>
          <p:nvPr/>
        </p:nvSpPr>
        <p:spPr>
          <a:xfrm>
            <a:off x="2285178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540" name="Straight Arrow Connector 41"/>
          <p:cNvSpPr/>
          <p:nvPr/>
        </p:nvSpPr>
        <p:spPr>
          <a:xfrm>
            <a:off x="3949987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541" name="Straight Arrow Connector 42"/>
          <p:cNvSpPr/>
          <p:nvPr/>
        </p:nvSpPr>
        <p:spPr>
          <a:xfrm>
            <a:off x="5614796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532" name="TextBox 47"/>
          <p:cNvSpPr txBox="1"/>
          <p:nvPr/>
        </p:nvSpPr>
        <p:spPr>
          <a:xfrm>
            <a:off x="2616168" y="2737939"/>
            <a:ext cx="52179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533" name="TextBox 48"/>
          <p:cNvSpPr txBox="1"/>
          <p:nvPr/>
        </p:nvSpPr>
        <p:spPr>
          <a:xfrm>
            <a:off x="4295718" y="2735102"/>
            <a:ext cx="56294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534" name="TextBox 49"/>
          <p:cNvSpPr txBox="1"/>
          <p:nvPr/>
        </p:nvSpPr>
        <p:spPr>
          <a:xfrm>
            <a:off x="5945027" y="2737939"/>
            <a:ext cx="53893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z )</a:t>
            </a:r>
          </a:p>
        </p:txBody>
      </p:sp>
      <p:sp>
        <p:nvSpPr>
          <p:cNvPr id="535" name="Straight Arrow Connector 64"/>
          <p:cNvSpPr/>
          <p:nvPr/>
        </p:nvSpPr>
        <p:spPr>
          <a:xfrm>
            <a:off x="802570" y="2708289"/>
            <a:ext cx="938891" cy="726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6" name="TextBox 65"/>
          <p:cNvSpPr txBox="1"/>
          <p:nvPr/>
        </p:nvSpPr>
        <p:spPr>
          <a:xfrm>
            <a:off x="991828" y="2715558"/>
            <a:ext cx="52956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a )</a:t>
            </a:r>
          </a:p>
        </p:txBody>
      </p:sp>
      <p:sp>
        <p:nvSpPr>
          <p:cNvPr id="537" name="Straight Arrow Connector 68"/>
          <p:cNvSpPr/>
          <p:nvPr/>
        </p:nvSpPr>
        <p:spPr>
          <a:xfrm>
            <a:off x="7253250" y="2715558"/>
            <a:ext cx="912564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8" name="TextBox 69"/>
          <p:cNvSpPr txBox="1"/>
          <p:nvPr/>
        </p:nvSpPr>
        <p:spPr>
          <a:xfrm>
            <a:off x="7416181" y="2715558"/>
            <a:ext cx="52270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b 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Oval 4"/>
          <p:cNvGrpSpPr/>
          <p:nvPr/>
        </p:nvGrpSpPr>
        <p:grpSpPr>
          <a:xfrm>
            <a:off x="3406268" y="2376880"/>
            <a:ext cx="538939" cy="677355"/>
            <a:chOff x="0" y="0"/>
            <a:chExt cx="538937" cy="677354"/>
          </a:xfrm>
        </p:grpSpPr>
        <p:sp>
          <p:nvSpPr>
            <p:cNvPr id="543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44" name="f2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f2</a:t>
              </a:r>
            </a:p>
          </p:txBody>
        </p:sp>
      </p:grpSp>
      <p:grpSp>
        <p:nvGrpSpPr>
          <p:cNvPr id="548" name="Oval 5"/>
          <p:cNvGrpSpPr/>
          <p:nvPr/>
        </p:nvGrpSpPr>
        <p:grpSpPr>
          <a:xfrm>
            <a:off x="1741459" y="2376880"/>
            <a:ext cx="538939" cy="677355"/>
            <a:chOff x="0" y="0"/>
            <a:chExt cx="538937" cy="677353"/>
          </a:xfrm>
        </p:grpSpPr>
        <p:sp>
          <p:nvSpPr>
            <p:cNvPr id="546" name="Oval"/>
            <p:cNvSpPr/>
            <p:nvPr/>
          </p:nvSpPr>
          <p:spPr>
            <a:xfrm>
              <a:off x="0" y="77337"/>
              <a:ext cx="538938" cy="522681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47" name="f1"/>
            <p:cNvSpPr txBox="1"/>
            <p:nvPr/>
          </p:nvSpPr>
          <p:spPr>
            <a:xfrm>
              <a:off x="126551" y="0"/>
              <a:ext cx="285834" cy="677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f1</a:t>
              </a:r>
            </a:p>
          </p:txBody>
        </p:sp>
      </p:grpSp>
      <p:grpSp>
        <p:nvGrpSpPr>
          <p:cNvPr id="551" name="Oval 8"/>
          <p:cNvGrpSpPr/>
          <p:nvPr/>
        </p:nvGrpSpPr>
        <p:grpSpPr>
          <a:xfrm>
            <a:off x="6735887" y="2376880"/>
            <a:ext cx="538938" cy="677355"/>
            <a:chOff x="0" y="0"/>
            <a:chExt cx="538937" cy="677354"/>
          </a:xfrm>
        </p:grpSpPr>
        <p:sp>
          <p:nvSpPr>
            <p:cNvPr id="549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50" name="f4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f4</a:t>
              </a:r>
            </a:p>
          </p:txBody>
        </p:sp>
      </p:grpSp>
      <p:grpSp>
        <p:nvGrpSpPr>
          <p:cNvPr id="554" name="Oval 10"/>
          <p:cNvGrpSpPr/>
          <p:nvPr/>
        </p:nvGrpSpPr>
        <p:grpSpPr>
          <a:xfrm>
            <a:off x="5071078" y="2376880"/>
            <a:ext cx="538938" cy="677355"/>
            <a:chOff x="0" y="0"/>
            <a:chExt cx="538937" cy="677354"/>
          </a:xfrm>
        </p:grpSpPr>
        <p:sp>
          <p:nvSpPr>
            <p:cNvPr id="552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53" name="f3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f3</a:t>
              </a:r>
            </a:p>
          </p:txBody>
        </p:sp>
      </p:grpSp>
      <p:sp>
        <p:nvSpPr>
          <p:cNvPr id="568" name="Straight Arrow Connector 38"/>
          <p:cNvSpPr/>
          <p:nvPr/>
        </p:nvSpPr>
        <p:spPr>
          <a:xfrm>
            <a:off x="2262456" y="2821673"/>
            <a:ext cx="1161772" cy="1007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fill="norm" stroke="1" extrusionOk="0">
                <a:moveTo>
                  <a:pt x="0" y="0"/>
                </a:moveTo>
                <a:cubicBezTo>
                  <a:pt x="7200" y="21600"/>
                  <a:pt x="14400" y="21600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569" name="Straight Arrow Connector 41"/>
          <p:cNvSpPr/>
          <p:nvPr/>
        </p:nvSpPr>
        <p:spPr>
          <a:xfrm>
            <a:off x="3931219" y="2812335"/>
            <a:ext cx="1164682" cy="113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48" fill="norm" stroke="1" extrusionOk="0">
                <a:moveTo>
                  <a:pt x="0" y="0"/>
                </a:moveTo>
                <a:cubicBezTo>
                  <a:pt x="8097" y="20482"/>
                  <a:pt x="15297" y="21600"/>
                  <a:pt x="21600" y="3355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570" name="Straight Arrow Connector 42"/>
          <p:cNvSpPr/>
          <p:nvPr/>
        </p:nvSpPr>
        <p:spPr>
          <a:xfrm>
            <a:off x="5589683" y="2814997"/>
            <a:ext cx="1161319" cy="105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4" fill="norm" stroke="1" extrusionOk="0">
                <a:moveTo>
                  <a:pt x="0" y="1821"/>
                </a:moveTo>
                <a:cubicBezTo>
                  <a:pt x="6736" y="21600"/>
                  <a:pt x="13936" y="20993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558" name="TextBox 47"/>
          <p:cNvSpPr txBox="1"/>
          <p:nvPr/>
        </p:nvSpPr>
        <p:spPr>
          <a:xfrm>
            <a:off x="2549465" y="2889119"/>
            <a:ext cx="521793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559" name="TextBox 48"/>
          <p:cNvSpPr txBox="1"/>
          <p:nvPr/>
        </p:nvSpPr>
        <p:spPr>
          <a:xfrm>
            <a:off x="4226672" y="2889119"/>
            <a:ext cx="56294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560" name="TextBox 49"/>
          <p:cNvSpPr txBox="1"/>
          <p:nvPr/>
        </p:nvSpPr>
        <p:spPr>
          <a:xfrm>
            <a:off x="5903483" y="2889119"/>
            <a:ext cx="538938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z )</a:t>
            </a:r>
          </a:p>
        </p:txBody>
      </p:sp>
      <p:sp>
        <p:nvSpPr>
          <p:cNvPr id="571" name="Straight Arrow Connector 6"/>
          <p:cNvSpPr/>
          <p:nvPr/>
        </p:nvSpPr>
        <p:spPr>
          <a:xfrm>
            <a:off x="2285178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572" name="Straight Arrow Connector 7"/>
          <p:cNvSpPr/>
          <p:nvPr/>
        </p:nvSpPr>
        <p:spPr>
          <a:xfrm>
            <a:off x="3949987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573" name="Straight Arrow Connector 11"/>
          <p:cNvSpPr/>
          <p:nvPr/>
        </p:nvSpPr>
        <p:spPr>
          <a:xfrm>
            <a:off x="5614796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0800" fill="norm" stroke="1" extrusionOk="0">
                <a:moveTo>
                  <a:pt x="0" y="10800"/>
                </a:moveTo>
                <a:cubicBezTo>
                  <a:pt x="7200" y="-10800"/>
                  <a:pt x="14400" y="-10800"/>
                  <a:pt x="21600" y="10800"/>
                </a:cubicBez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564" name="Straight Arrow Connector 64"/>
          <p:cNvSpPr/>
          <p:nvPr/>
        </p:nvSpPr>
        <p:spPr>
          <a:xfrm>
            <a:off x="802570" y="2708289"/>
            <a:ext cx="938891" cy="726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5" name="TextBox 65"/>
          <p:cNvSpPr txBox="1"/>
          <p:nvPr/>
        </p:nvSpPr>
        <p:spPr>
          <a:xfrm>
            <a:off x="991828" y="2715558"/>
            <a:ext cx="52956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a )</a:t>
            </a:r>
          </a:p>
        </p:txBody>
      </p:sp>
      <p:sp>
        <p:nvSpPr>
          <p:cNvPr id="566" name="Straight Arrow Connector 68"/>
          <p:cNvSpPr/>
          <p:nvPr/>
        </p:nvSpPr>
        <p:spPr>
          <a:xfrm>
            <a:off x="7253250" y="2715558"/>
            <a:ext cx="912564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" name="TextBox 69"/>
          <p:cNvSpPr txBox="1"/>
          <p:nvPr/>
        </p:nvSpPr>
        <p:spPr>
          <a:xfrm>
            <a:off x="7416181" y="2715558"/>
            <a:ext cx="52270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b 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TextBox 71"/>
          <p:cNvSpPr txBox="1"/>
          <p:nvPr/>
        </p:nvSpPr>
        <p:spPr>
          <a:xfrm>
            <a:off x="529565" y="755911"/>
            <a:ext cx="5325975" cy="153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PoMO </a:t>
            </a:r>
            <a:r>
              <a:rPr>
                <a:solidFill>
                  <a:srgbClr val="FF0000"/>
                </a:solidFill>
              </a:rPr>
              <a:t>verletzt</a:t>
            </a:r>
          </a:p>
          <a:p>
            <a:pPr>
              <a:defRPr sz="28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(Principle of Mutual Oblivion)</a:t>
            </a:r>
            <a:endParaRPr>
              <a:solidFill>
                <a:srgbClr val="FF0000"/>
              </a:solidFill>
            </a:endParaRPr>
          </a:p>
          <a:p>
            <a:pPr>
              <a:defRPr sz="28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 -&gt; f1 ist abhängig von f2</a:t>
            </a:r>
          </a:p>
        </p:txBody>
      </p:sp>
      <p:grpSp>
        <p:nvGrpSpPr>
          <p:cNvPr id="578" name="Oval 4"/>
          <p:cNvGrpSpPr/>
          <p:nvPr/>
        </p:nvGrpSpPr>
        <p:grpSpPr>
          <a:xfrm>
            <a:off x="3406268" y="2376880"/>
            <a:ext cx="538939" cy="677355"/>
            <a:chOff x="0" y="0"/>
            <a:chExt cx="538937" cy="677354"/>
          </a:xfrm>
        </p:grpSpPr>
        <p:sp>
          <p:nvSpPr>
            <p:cNvPr id="576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77" name="f2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f2</a:t>
              </a:r>
            </a:p>
          </p:txBody>
        </p:sp>
      </p:grpSp>
      <p:grpSp>
        <p:nvGrpSpPr>
          <p:cNvPr id="581" name="Oval 5"/>
          <p:cNvGrpSpPr/>
          <p:nvPr/>
        </p:nvGrpSpPr>
        <p:grpSpPr>
          <a:xfrm>
            <a:off x="1741459" y="2376880"/>
            <a:ext cx="538939" cy="677355"/>
            <a:chOff x="0" y="0"/>
            <a:chExt cx="538937" cy="677353"/>
          </a:xfrm>
        </p:grpSpPr>
        <p:sp>
          <p:nvSpPr>
            <p:cNvPr id="579" name="Oval"/>
            <p:cNvSpPr/>
            <p:nvPr/>
          </p:nvSpPr>
          <p:spPr>
            <a:xfrm>
              <a:off x="0" y="77337"/>
              <a:ext cx="538938" cy="522681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80" name="f1"/>
            <p:cNvSpPr txBox="1"/>
            <p:nvPr/>
          </p:nvSpPr>
          <p:spPr>
            <a:xfrm>
              <a:off x="126551" y="0"/>
              <a:ext cx="285834" cy="677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f1</a:t>
              </a:r>
            </a:p>
          </p:txBody>
        </p:sp>
      </p:grpSp>
      <p:grpSp>
        <p:nvGrpSpPr>
          <p:cNvPr id="584" name="Oval 8"/>
          <p:cNvGrpSpPr/>
          <p:nvPr/>
        </p:nvGrpSpPr>
        <p:grpSpPr>
          <a:xfrm>
            <a:off x="6735887" y="2376880"/>
            <a:ext cx="538938" cy="677355"/>
            <a:chOff x="0" y="0"/>
            <a:chExt cx="538937" cy="677354"/>
          </a:xfrm>
        </p:grpSpPr>
        <p:sp>
          <p:nvSpPr>
            <p:cNvPr id="582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83" name="f4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f4</a:t>
              </a:r>
            </a:p>
          </p:txBody>
        </p:sp>
      </p:grpSp>
      <p:grpSp>
        <p:nvGrpSpPr>
          <p:cNvPr id="587" name="Oval 10"/>
          <p:cNvGrpSpPr/>
          <p:nvPr/>
        </p:nvGrpSpPr>
        <p:grpSpPr>
          <a:xfrm>
            <a:off x="5071078" y="2376880"/>
            <a:ext cx="538938" cy="677355"/>
            <a:chOff x="0" y="0"/>
            <a:chExt cx="538937" cy="677354"/>
          </a:xfrm>
        </p:grpSpPr>
        <p:sp>
          <p:nvSpPr>
            <p:cNvPr id="585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86" name="f3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f3</a:t>
              </a:r>
            </a:p>
          </p:txBody>
        </p:sp>
      </p:grpSp>
      <p:sp>
        <p:nvSpPr>
          <p:cNvPr id="601" name="Straight Arrow Connector 38"/>
          <p:cNvSpPr/>
          <p:nvPr/>
        </p:nvSpPr>
        <p:spPr>
          <a:xfrm>
            <a:off x="2262456" y="2821673"/>
            <a:ext cx="1161772" cy="1007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fill="norm" stroke="1" extrusionOk="0">
                <a:moveTo>
                  <a:pt x="0" y="0"/>
                </a:moveTo>
                <a:cubicBezTo>
                  <a:pt x="7200" y="21600"/>
                  <a:pt x="14400" y="21600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02" name="Straight Arrow Connector 41"/>
          <p:cNvSpPr/>
          <p:nvPr/>
        </p:nvSpPr>
        <p:spPr>
          <a:xfrm>
            <a:off x="3931219" y="2812335"/>
            <a:ext cx="1164682" cy="113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48" fill="norm" stroke="1" extrusionOk="0">
                <a:moveTo>
                  <a:pt x="0" y="0"/>
                </a:moveTo>
                <a:cubicBezTo>
                  <a:pt x="8097" y="20482"/>
                  <a:pt x="15297" y="21600"/>
                  <a:pt x="21600" y="3355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03" name="Straight Arrow Connector 42"/>
          <p:cNvSpPr/>
          <p:nvPr/>
        </p:nvSpPr>
        <p:spPr>
          <a:xfrm>
            <a:off x="5589683" y="2814997"/>
            <a:ext cx="1161319" cy="105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4" fill="norm" stroke="1" extrusionOk="0">
                <a:moveTo>
                  <a:pt x="0" y="1821"/>
                </a:moveTo>
                <a:cubicBezTo>
                  <a:pt x="6736" y="21600"/>
                  <a:pt x="13936" y="20993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591" name="TextBox 47"/>
          <p:cNvSpPr txBox="1"/>
          <p:nvPr/>
        </p:nvSpPr>
        <p:spPr>
          <a:xfrm>
            <a:off x="2549465" y="2889119"/>
            <a:ext cx="521793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592" name="TextBox 48"/>
          <p:cNvSpPr txBox="1"/>
          <p:nvPr/>
        </p:nvSpPr>
        <p:spPr>
          <a:xfrm>
            <a:off x="4226672" y="2889119"/>
            <a:ext cx="56294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593" name="TextBox 49"/>
          <p:cNvSpPr txBox="1"/>
          <p:nvPr/>
        </p:nvSpPr>
        <p:spPr>
          <a:xfrm>
            <a:off x="5903483" y="2889119"/>
            <a:ext cx="538938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z )</a:t>
            </a:r>
          </a:p>
        </p:txBody>
      </p:sp>
      <p:sp>
        <p:nvSpPr>
          <p:cNvPr id="604" name="Straight Arrow Connector 6"/>
          <p:cNvSpPr/>
          <p:nvPr/>
        </p:nvSpPr>
        <p:spPr>
          <a:xfrm>
            <a:off x="2285178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05" name="Straight Arrow Connector 7"/>
          <p:cNvSpPr/>
          <p:nvPr/>
        </p:nvSpPr>
        <p:spPr>
          <a:xfrm>
            <a:off x="3949987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06" name="Straight Arrow Connector 11"/>
          <p:cNvSpPr/>
          <p:nvPr/>
        </p:nvSpPr>
        <p:spPr>
          <a:xfrm>
            <a:off x="5614796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280" fill="norm" stroke="1" extrusionOk="0">
                <a:moveTo>
                  <a:pt x="0" y="17280"/>
                </a:moveTo>
                <a:cubicBezTo>
                  <a:pt x="7200" y="0"/>
                  <a:pt x="14400" y="-4320"/>
                  <a:pt x="21600" y="8640"/>
                </a:cubicBez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597" name="Straight Arrow Connector 64"/>
          <p:cNvSpPr/>
          <p:nvPr/>
        </p:nvSpPr>
        <p:spPr>
          <a:xfrm>
            <a:off x="802570" y="2708289"/>
            <a:ext cx="938891" cy="726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" name="TextBox 65"/>
          <p:cNvSpPr txBox="1"/>
          <p:nvPr/>
        </p:nvSpPr>
        <p:spPr>
          <a:xfrm>
            <a:off x="991828" y="2715558"/>
            <a:ext cx="52956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a )</a:t>
            </a:r>
          </a:p>
        </p:txBody>
      </p:sp>
      <p:sp>
        <p:nvSpPr>
          <p:cNvPr id="599" name="Straight Arrow Connector 68"/>
          <p:cNvSpPr/>
          <p:nvPr/>
        </p:nvSpPr>
        <p:spPr>
          <a:xfrm>
            <a:off x="7253250" y="2715558"/>
            <a:ext cx="912564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" name="TextBox 69"/>
          <p:cNvSpPr txBox="1"/>
          <p:nvPr/>
        </p:nvSpPr>
        <p:spPr>
          <a:xfrm>
            <a:off x="7416181" y="2715558"/>
            <a:ext cx="52270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b 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TextBox 72"/>
          <p:cNvSpPr txBox="1"/>
          <p:nvPr/>
        </p:nvSpPr>
        <p:spPr>
          <a:xfrm>
            <a:off x="529565" y="726931"/>
            <a:ext cx="8056872" cy="153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IOSP </a:t>
            </a:r>
            <a:r>
              <a:rPr>
                <a:solidFill>
                  <a:srgbClr val="FF0000"/>
                </a:solidFill>
              </a:rPr>
              <a:t>verletzt</a:t>
            </a:r>
          </a:p>
          <a:p>
            <a:pPr>
              <a:defRPr sz="28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(Integration Operation Segregation Principle)</a:t>
            </a:r>
            <a:endParaRPr>
              <a:solidFill>
                <a:srgbClr val="FF0000"/>
              </a:solidFill>
            </a:endParaRPr>
          </a:p>
          <a:p>
            <a:pPr>
              <a:defRPr sz="28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 -&gt; f1 enthält Domänenlogik und integriert f2</a:t>
            </a:r>
          </a:p>
        </p:txBody>
      </p:sp>
      <p:grpSp>
        <p:nvGrpSpPr>
          <p:cNvPr id="611" name="Oval 4"/>
          <p:cNvGrpSpPr/>
          <p:nvPr/>
        </p:nvGrpSpPr>
        <p:grpSpPr>
          <a:xfrm>
            <a:off x="3406268" y="2376880"/>
            <a:ext cx="538939" cy="677355"/>
            <a:chOff x="0" y="0"/>
            <a:chExt cx="538937" cy="677354"/>
          </a:xfrm>
        </p:grpSpPr>
        <p:sp>
          <p:nvSpPr>
            <p:cNvPr id="609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10" name="f2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f2</a:t>
              </a:r>
            </a:p>
          </p:txBody>
        </p:sp>
      </p:grpSp>
      <p:grpSp>
        <p:nvGrpSpPr>
          <p:cNvPr id="614" name="Oval 5"/>
          <p:cNvGrpSpPr/>
          <p:nvPr/>
        </p:nvGrpSpPr>
        <p:grpSpPr>
          <a:xfrm>
            <a:off x="1741459" y="2376880"/>
            <a:ext cx="538939" cy="677355"/>
            <a:chOff x="0" y="0"/>
            <a:chExt cx="538937" cy="677353"/>
          </a:xfrm>
        </p:grpSpPr>
        <p:sp>
          <p:nvSpPr>
            <p:cNvPr id="612" name="Oval"/>
            <p:cNvSpPr/>
            <p:nvPr/>
          </p:nvSpPr>
          <p:spPr>
            <a:xfrm>
              <a:off x="0" y="77337"/>
              <a:ext cx="538938" cy="522681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13" name="f1"/>
            <p:cNvSpPr txBox="1"/>
            <p:nvPr/>
          </p:nvSpPr>
          <p:spPr>
            <a:xfrm>
              <a:off x="126551" y="0"/>
              <a:ext cx="285834" cy="677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f1</a:t>
              </a:r>
            </a:p>
          </p:txBody>
        </p:sp>
      </p:grpSp>
      <p:grpSp>
        <p:nvGrpSpPr>
          <p:cNvPr id="617" name="Oval 8"/>
          <p:cNvGrpSpPr/>
          <p:nvPr/>
        </p:nvGrpSpPr>
        <p:grpSpPr>
          <a:xfrm>
            <a:off x="6735887" y="2376880"/>
            <a:ext cx="538938" cy="677355"/>
            <a:chOff x="0" y="0"/>
            <a:chExt cx="538937" cy="677354"/>
          </a:xfrm>
        </p:grpSpPr>
        <p:sp>
          <p:nvSpPr>
            <p:cNvPr id="615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16" name="f4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f4</a:t>
              </a:r>
            </a:p>
          </p:txBody>
        </p:sp>
      </p:grpSp>
      <p:grpSp>
        <p:nvGrpSpPr>
          <p:cNvPr id="620" name="Oval 10"/>
          <p:cNvGrpSpPr/>
          <p:nvPr/>
        </p:nvGrpSpPr>
        <p:grpSpPr>
          <a:xfrm>
            <a:off x="5071078" y="2376880"/>
            <a:ext cx="538938" cy="677355"/>
            <a:chOff x="0" y="0"/>
            <a:chExt cx="538937" cy="677354"/>
          </a:xfrm>
        </p:grpSpPr>
        <p:sp>
          <p:nvSpPr>
            <p:cNvPr id="618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19" name="f3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f3</a:t>
              </a:r>
            </a:p>
          </p:txBody>
        </p:sp>
      </p:grpSp>
      <p:sp>
        <p:nvSpPr>
          <p:cNvPr id="634" name="Straight Arrow Connector 38"/>
          <p:cNvSpPr/>
          <p:nvPr/>
        </p:nvSpPr>
        <p:spPr>
          <a:xfrm>
            <a:off x="2262456" y="2821673"/>
            <a:ext cx="1161772" cy="1007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fill="norm" stroke="1" extrusionOk="0">
                <a:moveTo>
                  <a:pt x="0" y="0"/>
                </a:moveTo>
                <a:cubicBezTo>
                  <a:pt x="7200" y="21600"/>
                  <a:pt x="14400" y="21600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35" name="Straight Arrow Connector 41"/>
          <p:cNvSpPr/>
          <p:nvPr/>
        </p:nvSpPr>
        <p:spPr>
          <a:xfrm>
            <a:off x="3931219" y="2812335"/>
            <a:ext cx="1164682" cy="113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48" fill="norm" stroke="1" extrusionOk="0">
                <a:moveTo>
                  <a:pt x="0" y="0"/>
                </a:moveTo>
                <a:cubicBezTo>
                  <a:pt x="8097" y="20482"/>
                  <a:pt x="15297" y="21600"/>
                  <a:pt x="21600" y="3355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36" name="Straight Arrow Connector 42"/>
          <p:cNvSpPr/>
          <p:nvPr/>
        </p:nvSpPr>
        <p:spPr>
          <a:xfrm>
            <a:off x="5589683" y="2814997"/>
            <a:ext cx="1161319" cy="105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4" fill="norm" stroke="1" extrusionOk="0">
                <a:moveTo>
                  <a:pt x="0" y="1821"/>
                </a:moveTo>
                <a:cubicBezTo>
                  <a:pt x="6736" y="21600"/>
                  <a:pt x="13936" y="20993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24" name="TextBox 47"/>
          <p:cNvSpPr txBox="1"/>
          <p:nvPr/>
        </p:nvSpPr>
        <p:spPr>
          <a:xfrm>
            <a:off x="2549465" y="2889119"/>
            <a:ext cx="521793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625" name="TextBox 48"/>
          <p:cNvSpPr txBox="1"/>
          <p:nvPr/>
        </p:nvSpPr>
        <p:spPr>
          <a:xfrm>
            <a:off x="4226672" y="2889119"/>
            <a:ext cx="56294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626" name="TextBox 49"/>
          <p:cNvSpPr txBox="1"/>
          <p:nvPr/>
        </p:nvSpPr>
        <p:spPr>
          <a:xfrm>
            <a:off x="5903483" y="2889119"/>
            <a:ext cx="538938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z )</a:t>
            </a:r>
          </a:p>
        </p:txBody>
      </p:sp>
      <p:sp>
        <p:nvSpPr>
          <p:cNvPr id="637" name="Straight Arrow Connector 6"/>
          <p:cNvSpPr/>
          <p:nvPr/>
        </p:nvSpPr>
        <p:spPr>
          <a:xfrm>
            <a:off x="2285178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38" name="Straight Arrow Connector 7"/>
          <p:cNvSpPr/>
          <p:nvPr/>
        </p:nvSpPr>
        <p:spPr>
          <a:xfrm>
            <a:off x="3949987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39" name="Straight Arrow Connector 11"/>
          <p:cNvSpPr/>
          <p:nvPr/>
        </p:nvSpPr>
        <p:spPr>
          <a:xfrm>
            <a:off x="5614796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280" fill="norm" stroke="1" extrusionOk="0">
                <a:moveTo>
                  <a:pt x="0" y="17280"/>
                </a:moveTo>
                <a:cubicBezTo>
                  <a:pt x="7200" y="0"/>
                  <a:pt x="14400" y="-4320"/>
                  <a:pt x="21600" y="8640"/>
                </a:cubicBez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30" name="Straight Arrow Connector 64"/>
          <p:cNvSpPr/>
          <p:nvPr/>
        </p:nvSpPr>
        <p:spPr>
          <a:xfrm>
            <a:off x="802570" y="2708289"/>
            <a:ext cx="938891" cy="726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1" name="TextBox 65"/>
          <p:cNvSpPr txBox="1"/>
          <p:nvPr/>
        </p:nvSpPr>
        <p:spPr>
          <a:xfrm>
            <a:off x="991828" y="2715558"/>
            <a:ext cx="52956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a )</a:t>
            </a:r>
          </a:p>
        </p:txBody>
      </p:sp>
      <p:sp>
        <p:nvSpPr>
          <p:cNvPr id="632" name="Straight Arrow Connector 68"/>
          <p:cNvSpPr/>
          <p:nvPr/>
        </p:nvSpPr>
        <p:spPr>
          <a:xfrm>
            <a:off x="7253250" y="2715558"/>
            <a:ext cx="912564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3" name="TextBox 69"/>
          <p:cNvSpPr txBox="1"/>
          <p:nvPr/>
        </p:nvSpPr>
        <p:spPr>
          <a:xfrm>
            <a:off x="7416181" y="2715558"/>
            <a:ext cx="52270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b 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Oval 4"/>
          <p:cNvGrpSpPr/>
          <p:nvPr/>
        </p:nvGrpSpPr>
        <p:grpSpPr>
          <a:xfrm>
            <a:off x="3406268" y="2376880"/>
            <a:ext cx="538939" cy="677355"/>
            <a:chOff x="0" y="0"/>
            <a:chExt cx="538937" cy="677354"/>
          </a:xfrm>
        </p:grpSpPr>
        <p:sp>
          <p:nvSpPr>
            <p:cNvPr id="641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42" name="f2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f2</a:t>
              </a:r>
            </a:p>
          </p:txBody>
        </p:sp>
      </p:grpSp>
      <p:grpSp>
        <p:nvGrpSpPr>
          <p:cNvPr id="646" name="Oval 5"/>
          <p:cNvGrpSpPr/>
          <p:nvPr/>
        </p:nvGrpSpPr>
        <p:grpSpPr>
          <a:xfrm>
            <a:off x="1741459" y="2376880"/>
            <a:ext cx="538939" cy="677355"/>
            <a:chOff x="0" y="0"/>
            <a:chExt cx="538937" cy="677353"/>
          </a:xfrm>
        </p:grpSpPr>
        <p:sp>
          <p:nvSpPr>
            <p:cNvPr id="644" name="Oval"/>
            <p:cNvSpPr/>
            <p:nvPr/>
          </p:nvSpPr>
          <p:spPr>
            <a:xfrm>
              <a:off x="0" y="77337"/>
              <a:ext cx="538938" cy="522681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45" name="f1"/>
            <p:cNvSpPr txBox="1"/>
            <p:nvPr/>
          </p:nvSpPr>
          <p:spPr>
            <a:xfrm>
              <a:off x="126551" y="0"/>
              <a:ext cx="285834" cy="677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f1</a:t>
              </a:r>
            </a:p>
          </p:txBody>
        </p:sp>
      </p:grpSp>
      <p:grpSp>
        <p:nvGrpSpPr>
          <p:cNvPr id="649" name="Oval 8"/>
          <p:cNvGrpSpPr/>
          <p:nvPr/>
        </p:nvGrpSpPr>
        <p:grpSpPr>
          <a:xfrm>
            <a:off x="6735887" y="2376880"/>
            <a:ext cx="538938" cy="677355"/>
            <a:chOff x="0" y="0"/>
            <a:chExt cx="538937" cy="677354"/>
          </a:xfrm>
        </p:grpSpPr>
        <p:sp>
          <p:nvSpPr>
            <p:cNvPr id="647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48" name="f4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f4</a:t>
              </a:r>
            </a:p>
          </p:txBody>
        </p:sp>
      </p:grpSp>
      <p:grpSp>
        <p:nvGrpSpPr>
          <p:cNvPr id="652" name="Oval 10"/>
          <p:cNvGrpSpPr/>
          <p:nvPr/>
        </p:nvGrpSpPr>
        <p:grpSpPr>
          <a:xfrm>
            <a:off x="5071078" y="2376880"/>
            <a:ext cx="538938" cy="677355"/>
            <a:chOff x="0" y="0"/>
            <a:chExt cx="538937" cy="677354"/>
          </a:xfrm>
        </p:grpSpPr>
        <p:sp>
          <p:nvSpPr>
            <p:cNvPr id="650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51" name="f3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f3</a:t>
              </a:r>
            </a:p>
          </p:txBody>
        </p:sp>
      </p:grpSp>
      <p:sp>
        <p:nvSpPr>
          <p:cNvPr id="670" name="Straight Arrow Connector 38"/>
          <p:cNvSpPr/>
          <p:nvPr/>
        </p:nvSpPr>
        <p:spPr>
          <a:xfrm>
            <a:off x="2285178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71" name="Straight Arrow Connector 41"/>
          <p:cNvSpPr/>
          <p:nvPr/>
        </p:nvSpPr>
        <p:spPr>
          <a:xfrm>
            <a:off x="3949987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72" name="Straight Arrow Connector 42"/>
          <p:cNvSpPr/>
          <p:nvPr/>
        </p:nvSpPr>
        <p:spPr>
          <a:xfrm>
            <a:off x="5614796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0800" fill="norm" stroke="1" extrusionOk="0">
                <a:moveTo>
                  <a:pt x="0" y="10800"/>
                </a:moveTo>
                <a:cubicBezTo>
                  <a:pt x="7200" y="-10800"/>
                  <a:pt x="14400" y="-10800"/>
                  <a:pt x="21600" y="1080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56" name="TextBox 47"/>
          <p:cNvSpPr txBox="1"/>
          <p:nvPr/>
        </p:nvSpPr>
        <p:spPr>
          <a:xfrm>
            <a:off x="2616168" y="2737939"/>
            <a:ext cx="52179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657" name="TextBox 48"/>
          <p:cNvSpPr txBox="1"/>
          <p:nvPr/>
        </p:nvSpPr>
        <p:spPr>
          <a:xfrm>
            <a:off x="4295718" y="2735102"/>
            <a:ext cx="56294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658" name="TextBox 49"/>
          <p:cNvSpPr txBox="1"/>
          <p:nvPr/>
        </p:nvSpPr>
        <p:spPr>
          <a:xfrm>
            <a:off x="5945027" y="2737939"/>
            <a:ext cx="53893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z )</a:t>
            </a:r>
          </a:p>
        </p:txBody>
      </p:sp>
      <p:sp>
        <p:nvSpPr>
          <p:cNvPr id="659" name="Straight Arrow Connector 64"/>
          <p:cNvSpPr/>
          <p:nvPr/>
        </p:nvSpPr>
        <p:spPr>
          <a:xfrm>
            <a:off x="802570" y="2708289"/>
            <a:ext cx="938891" cy="726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" name="TextBox 65"/>
          <p:cNvSpPr txBox="1"/>
          <p:nvPr/>
        </p:nvSpPr>
        <p:spPr>
          <a:xfrm>
            <a:off x="991828" y="2715558"/>
            <a:ext cx="52956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a )</a:t>
            </a:r>
          </a:p>
        </p:txBody>
      </p:sp>
      <p:sp>
        <p:nvSpPr>
          <p:cNvPr id="661" name="Straight Arrow Connector 68"/>
          <p:cNvSpPr/>
          <p:nvPr/>
        </p:nvSpPr>
        <p:spPr>
          <a:xfrm>
            <a:off x="7253250" y="2715558"/>
            <a:ext cx="912564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2" name="TextBox 69"/>
          <p:cNvSpPr txBox="1"/>
          <p:nvPr/>
        </p:nvSpPr>
        <p:spPr>
          <a:xfrm>
            <a:off x="7416181" y="2715558"/>
            <a:ext cx="52270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b )</a:t>
            </a:r>
          </a:p>
        </p:txBody>
      </p:sp>
      <p:grpSp>
        <p:nvGrpSpPr>
          <p:cNvPr id="665" name="Oval 15"/>
          <p:cNvGrpSpPr/>
          <p:nvPr/>
        </p:nvGrpSpPr>
        <p:grpSpPr>
          <a:xfrm>
            <a:off x="4249997" y="666829"/>
            <a:ext cx="517365" cy="501759"/>
            <a:chOff x="0" y="0"/>
            <a:chExt cx="517364" cy="501757"/>
          </a:xfrm>
        </p:grpSpPr>
        <p:sp>
          <p:nvSpPr>
            <p:cNvPr id="663" name="Oval"/>
            <p:cNvSpPr/>
            <p:nvPr/>
          </p:nvSpPr>
          <p:spPr>
            <a:xfrm>
              <a:off x="-1" y="0"/>
              <a:ext cx="517366" cy="501758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64" name="f"/>
            <p:cNvSpPr txBox="1"/>
            <p:nvPr/>
          </p:nvSpPr>
          <p:spPr>
            <a:xfrm>
              <a:off x="121485" y="65458"/>
              <a:ext cx="274392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sp>
        <p:nvSpPr>
          <p:cNvPr id="673" name="Straight Arrow Connector 16"/>
          <p:cNvSpPr/>
          <p:nvPr/>
        </p:nvSpPr>
        <p:spPr>
          <a:xfrm>
            <a:off x="2231119" y="1069992"/>
            <a:ext cx="2065993" cy="14870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74" name="Straight Arrow Connector 19"/>
          <p:cNvSpPr/>
          <p:nvPr/>
        </p:nvSpPr>
        <p:spPr>
          <a:xfrm>
            <a:off x="3818621" y="1150964"/>
            <a:ext cx="581992" cy="1256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75" name="Straight Arrow Connector 22"/>
          <p:cNvSpPr/>
          <p:nvPr/>
        </p:nvSpPr>
        <p:spPr>
          <a:xfrm>
            <a:off x="4616658" y="1151073"/>
            <a:ext cx="581024" cy="1255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76" name="Straight Arrow Connector 25"/>
          <p:cNvSpPr/>
          <p:nvPr/>
        </p:nvSpPr>
        <p:spPr>
          <a:xfrm>
            <a:off x="4720319" y="1070109"/>
            <a:ext cx="2064892" cy="1486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" name="Oval 4"/>
          <p:cNvGrpSpPr/>
          <p:nvPr/>
        </p:nvGrpSpPr>
        <p:grpSpPr>
          <a:xfrm>
            <a:off x="3406268" y="2376880"/>
            <a:ext cx="538939" cy="677355"/>
            <a:chOff x="0" y="0"/>
            <a:chExt cx="538937" cy="677354"/>
          </a:xfrm>
        </p:grpSpPr>
        <p:sp>
          <p:nvSpPr>
            <p:cNvPr id="678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79" name="f2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f2</a:t>
              </a:r>
            </a:p>
          </p:txBody>
        </p:sp>
      </p:grpSp>
      <p:grpSp>
        <p:nvGrpSpPr>
          <p:cNvPr id="683" name="Oval 5"/>
          <p:cNvGrpSpPr/>
          <p:nvPr/>
        </p:nvGrpSpPr>
        <p:grpSpPr>
          <a:xfrm>
            <a:off x="1741459" y="2376880"/>
            <a:ext cx="538939" cy="677355"/>
            <a:chOff x="0" y="0"/>
            <a:chExt cx="538937" cy="677353"/>
          </a:xfrm>
        </p:grpSpPr>
        <p:sp>
          <p:nvSpPr>
            <p:cNvPr id="681" name="Oval"/>
            <p:cNvSpPr/>
            <p:nvPr/>
          </p:nvSpPr>
          <p:spPr>
            <a:xfrm>
              <a:off x="0" y="77337"/>
              <a:ext cx="538938" cy="522681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82" name="f1"/>
            <p:cNvSpPr txBox="1"/>
            <p:nvPr/>
          </p:nvSpPr>
          <p:spPr>
            <a:xfrm>
              <a:off x="126551" y="0"/>
              <a:ext cx="285834" cy="677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f1</a:t>
              </a:r>
            </a:p>
          </p:txBody>
        </p:sp>
      </p:grpSp>
      <p:grpSp>
        <p:nvGrpSpPr>
          <p:cNvPr id="686" name="Oval 8"/>
          <p:cNvGrpSpPr/>
          <p:nvPr/>
        </p:nvGrpSpPr>
        <p:grpSpPr>
          <a:xfrm>
            <a:off x="6735887" y="2376880"/>
            <a:ext cx="538938" cy="677355"/>
            <a:chOff x="0" y="0"/>
            <a:chExt cx="538937" cy="677354"/>
          </a:xfrm>
        </p:grpSpPr>
        <p:sp>
          <p:nvSpPr>
            <p:cNvPr id="684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85" name="f4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f4</a:t>
              </a:r>
            </a:p>
          </p:txBody>
        </p:sp>
      </p:grpSp>
      <p:grpSp>
        <p:nvGrpSpPr>
          <p:cNvPr id="689" name="Oval 10"/>
          <p:cNvGrpSpPr/>
          <p:nvPr/>
        </p:nvGrpSpPr>
        <p:grpSpPr>
          <a:xfrm>
            <a:off x="5071078" y="2376880"/>
            <a:ext cx="538938" cy="677355"/>
            <a:chOff x="0" y="0"/>
            <a:chExt cx="538937" cy="677354"/>
          </a:xfrm>
        </p:grpSpPr>
        <p:sp>
          <p:nvSpPr>
            <p:cNvPr id="687" name="Oval"/>
            <p:cNvSpPr/>
            <p:nvPr/>
          </p:nvSpPr>
          <p:spPr>
            <a:xfrm>
              <a:off x="0" y="77337"/>
              <a:ext cx="538938" cy="522682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88" name="f3"/>
            <p:cNvSpPr txBox="1"/>
            <p:nvPr/>
          </p:nvSpPr>
          <p:spPr>
            <a:xfrm>
              <a:off x="126551" y="0"/>
              <a:ext cx="285834" cy="6773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f3</a:t>
              </a:r>
            </a:p>
          </p:txBody>
        </p:sp>
      </p:grpSp>
      <p:sp>
        <p:nvSpPr>
          <p:cNvPr id="711" name="Straight Arrow Connector 38"/>
          <p:cNvSpPr/>
          <p:nvPr/>
        </p:nvSpPr>
        <p:spPr>
          <a:xfrm>
            <a:off x="2285178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712" name="Straight Arrow Connector 41"/>
          <p:cNvSpPr/>
          <p:nvPr/>
        </p:nvSpPr>
        <p:spPr>
          <a:xfrm>
            <a:off x="3949987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713" name="Straight Arrow Connector 42"/>
          <p:cNvSpPr/>
          <p:nvPr/>
        </p:nvSpPr>
        <p:spPr>
          <a:xfrm>
            <a:off x="5614796" y="2715557"/>
            <a:ext cx="111632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0800" fill="norm" stroke="1" extrusionOk="0">
                <a:moveTo>
                  <a:pt x="0" y="10800"/>
                </a:moveTo>
                <a:cubicBezTo>
                  <a:pt x="7200" y="-10800"/>
                  <a:pt x="14400" y="-10800"/>
                  <a:pt x="21600" y="1080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693" name="TextBox 47"/>
          <p:cNvSpPr txBox="1"/>
          <p:nvPr/>
        </p:nvSpPr>
        <p:spPr>
          <a:xfrm>
            <a:off x="2616168" y="2737939"/>
            <a:ext cx="52179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694" name="TextBox 48"/>
          <p:cNvSpPr txBox="1"/>
          <p:nvPr/>
        </p:nvSpPr>
        <p:spPr>
          <a:xfrm>
            <a:off x="4295718" y="2735102"/>
            <a:ext cx="56294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695" name="TextBox 49"/>
          <p:cNvSpPr txBox="1"/>
          <p:nvPr/>
        </p:nvSpPr>
        <p:spPr>
          <a:xfrm>
            <a:off x="5945027" y="2737939"/>
            <a:ext cx="53893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z )</a:t>
            </a:r>
          </a:p>
        </p:txBody>
      </p:sp>
      <p:sp>
        <p:nvSpPr>
          <p:cNvPr id="696" name="Straight Arrow Connector 64"/>
          <p:cNvSpPr/>
          <p:nvPr/>
        </p:nvSpPr>
        <p:spPr>
          <a:xfrm>
            <a:off x="802570" y="2708289"/>
            <a:ext cx="938891" cy="7268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" name="TextBox 65"/>
          <p:cNvSpPr txBox="1"/>
          <p:nvPr/>
        </p:nvSpPr>
        <p:spPr>
          <a:xfrm>
            <a:off x="991828" y="2715558"/>
            <a:ext cx="52956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a )</a:t>
            </a:r>
          </a:p>
        </p:txBody>
      </p:sp>
      <p:sp>
        <p:nvSpPr>
          <p:cNvPr id="698" name="Straight Arrow Connector 68"/>
          <p:cNvSpPr/>
          <p:nvPr/>
        </p:nvSpPr>
        <p:spPr>
          <a:xfrm>
            <a:off x="7253250" y="2715558"/>
            <a:ext cx="912564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" name="TextBox 69"/>
          <p:cNvSpPr txBox="1"/>
          <p:nvPr/>
        </p:nvSpPr>
        <p:spPr>
          <a:xfrm>
            <a:off x="7416181" y="2715558"/>
            <a:ext cx="522708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b )</a:t>
            </a:r>
          </a:p>
        </p:txBody>
      </p:sp>
      <p:grpSp>
        <p:nvGrpSpPr>
          <p:cNvPr id="702" name="Oval 15"/>
          <p:cNvGrpSpPr/>
          <p:nvPr/>
        </p:nvGrpSpPr>
        <p:grpSpPr>
          <a:xfrm>
            <a:off x="4249997" y="666829"/>
            <a:ext cx="517365" cy="501759"/>
            <a:chOff x="0" y="0"/>
            <a:chExt cx="517364" cy="501757"/>
          </a:xfrm>
        </p:grpSpPr>
        <p:sp>
          <p:nvSpPr>
            <p:cNvPr id="700" name="Oval"/>
            <p:cNvSpPr/>
            <p:nvPr/>
          </p:nvSpPr>
          <p:spPr>
            <a:xfrm>
              <a:off x="-1" y="0"/>
              <a:ext cx="517366" cy="501758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01" name="f"/>
            <p:cNvSpPr txBox="1"/>
            <p:nvPr/>
          </p:nvSpPr>
          <p:spPr>
            <a:xfrm>
              <a:off x="121485" y="65458"/>
              <a:ext cx="274392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sp>
        <p:nvSpPr>
          <p:cNvPr id="714" name="Straight Arrow Connector 16"/>
          <p:cNvSpPr/>
          <p:nvPr/>
        </p:nvSpPr>
        <p:spPr>
          <a:xfrm>
            <a:off x="2231119" y="1069992"/>
            <a:ext cx="2065993" cy="14870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715" name="Straight Arrow Connector 19"/>
          <p:cNvSpPr/>
          <p:nvPr/>
        </p:nvSpPr>
        <p:spPr>
          <a:xfrm>
            <a:off x="3818621" y="1150964"/>
            <a:ext cx="581992" cy="1256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716" name="Straight Arrow Connector 22"/>
          <p:cNvSpPr/>
          <p:nvPr/>
        </p:nvSpPr>
        <p:spPr>
          <a:xfrm>
            <a:off x="4616658" y="1151073"/>
            <a:ext cx="581024" cy="1255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717" name="Straight Arrow Connector 25"/>
          <p:cNvSpPr/>
          <p:nvPr/>
        </p:nvSpPr>
        <p:spPr>
          <a:xfrm>
            <a:off x="4720319" y="1070109"/>
            <a:ext cx="2064892" cy="1486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707" name="Straight Arrow Connector 28"/>
          <p:cNvSpPr/>
          <p:nvPr/>
        </p:nvSpPr>
        <p:spPr>
          <a:xfrm>
            <a:off x="1937234" y="3951354"/>
            <a:ext cx="1731486" cy="1"/>
          </a:xfrm>
          <a:prstGeom prst="line">
            <a:avLst/>
          </a:prstGeom>
          <a:ln w="76200">
            <a:solidFill>
              <a:srgbClr val="FF0000"/>
            </a:solidFill>
            <a:headEnd type="triangle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" name="TextBox 29"/>
          <p:cNvSpPr txBox="1"/>
          <p:nvPr/>
        </p:nvSpPr>
        <p:spPr>
          <a:xfrm>
            <a:off x="2163121" y="4028600"/>
            <a:ext cx="1298139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PoMO</a:t>
            </a:r>
          </a:p>
        </p:txBody>
      </p:sp>
      <p:sp>
        <p:nvSpPr>
          <p:cNvPr id="709" name="Straight Arrow Connector 30"/>
          <p:cNvSpPr/>
          <p:nvPr/>
        </p:nvSpPr>
        <p:spPr>
          <a:xfrm flipH="1">
            <a:off x="2245018" y="1168586"/>
            <a:ext cx="1550178" cy="953622"/>
          </a:xfrm>
          <a:prstGeom prst="line">
            <a:avLst/>
          </a:prstGeom>
          <a:ln w="76200">
            <a:solidFill>
              <a:srgbClr val="FF0000"/>
            </a:solidFill>
            <a:headEnd type="triangle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" name="TextBox 31"/>
          <p:cNvSpPr txBox="1"/>
          <p:nvPr/>
        </p:nvSpPr>
        <p:spPr>
          <a:xfrm>
            <a:off x="1787180" y="1020076"/>
            <a:ext cx="1086406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IOSP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Oval 3"/>
          <p:cNvGrpSpPr/>
          <p:nvPr/>
        </p:nvGrpSpPr>
        <p:grpSpPr>
          <a:xfrm>
            <a:off x="4247798" y="1904052"/>
            <a:ext cx="517365" cy="501758"/>
            <a:chOff x="0" y="0"/>
            <a:chExt cx="517364" cy="501757"/>
          </a:xfrm>
        </p:grpSpPr>
        <p:sp>
          <p:nvSpPr>
            <p:cNvPr id="719" name="Oval"/>
            <p:cNvSpPr/>
            <p:nvPr/>
          </p:nvSpPr>
          <p:spPr>
            <a:xfrm>
              <a:off x="-1" y="0"/>
              <a:ext cx="517366" cy="501758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20" name="f"/>
            <p:cNvSpPr txBox="1"/>
            <p:nvPr/>
          </p:nvSpPr>
          <p:spPr>
            <a:xfrm>
              <a:off x="121485" y="46408"/>
              <a:ext cx="274392" cy="40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724" name="Oval 5"/>
          <p:cNvGrpSpPr/>
          <p:nvPr/>
        </p:nvGrpSpPr>
        <p:grpSpPr>
          <a:xfrm>
            <a:off x="5006121" y="2956867"/>
            <a:ext cx="661011" cy="766145"/>
            <a:chOff x="0" y="0"/>
            <a:chExt cx="661009" cy="766144"/>
          </a:xfrm>
        </p:grpSpPr>
        <p:sp>
          <p:nvSpPr>
            <p:cNvPr id="722" name="Oval"/>
            <p:cNvSpPr/>
            <p:nvPr/>
          </p:nvSpPr>
          <p:spPr>
            <a:xfrm>
              <a:off x="0" y="61464"/>
              <a:ext cx="661010" cy="643217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723" name="f2"/>
            <p:cNvSpPr txBox="1"/>
            <p:nvPr/>
          </p:nvSpPr>
          <p:spPr>
            <a:xfrm>
              <a:off x="145021" y="0"/>
              <a:ext cx="370967" cy="7661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f2</a:t>
              </a:r>
            </a:p>
          </p:txBody>
        </p:sp>
      </p:grpSp>
      <p:grpSp>
        <p:nvGrpSpPr>
          <p:cNvPr id="727" name="Oval 6"/>
          <p:cNvGrpSpPr/>
          <p:nvPr/>
        </p:nvGrpSpPr>
        <p:grpSpPr>
          <a:xfrm>
            <a:off x="3429058" y="3034999"/>
            <a:ext cx="626755" cy="609883"/>
            <a:chOff x="0" y="0"/>
            <a:chExt cx="626753" cy="609882"/>
          </a:xfrm>
        </p:grpSpPr>
        <p:sp>
          <p:nvSpPr>
            <p:cNvPr id="725" name="Oval"/>
            <p:cNvSpPr/>
            <p:nvPr/>
          </p:nvSpPr>
          <p:spPr>
            <a:xfrm>
              <a:off x="0" y="-1"/>
              <a:ext cx="626754" cy="609884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726" name="f1"/>
            <p:cNvSpPr txBox="1"/>
            <p:nvPr/>
          </p:nvSpPr>
          <p:spPr>
            <a:xfrm>
              <a:off x="137505" y="100470"/>
              <a:ext cx="351743" cy="40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f1</a:t>
              </a:r>
            </a:p>
          </p:txBody>
        </p:sp>
      </p:grpSp>
      <p:sp>
        <p:nvSpPr>
          <p:cNvPr id="728" name="TextBox 10"/>
          <p:cNvSpPr txBox="1"/>
          <p:nvPr/>
        </p:nvSpPr>
        <p:spPr>
          <a:xfrm>
            <a:off x="1453215" y="179471"/>
            <a:ext cx="6237571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Flow Design:</a:t>
            </a:r>
          </a:p>
          <a:p>
            <a: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Datenflussdiagramme</a:t>
            </a:r>
          </a:p>
        </p:txBody>
      </p:sp>
      <p:sp>
        <p:nvSpPr>
          <p:cNvPr id="751" name="Straight Arrow Connector 12"/>
          <p:cNvSpPr/>
          <p:nvPr/>
        </p:nvSpPr>
        <p:spPr>
          <a:xfrm>
            <a:off x="4060486" y="3339939"/>
            <a:ext cx="940874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730" name="Straight Arrow Connector 17"/>
          <p:cNvSpPr/>
          <p:nvPr/>
        </p:nvSpPr>
        <p:spPr>
          <a:xfrm>
            <a:off x="2320532" y="3339939"/>
            <a:ext cx="1108527" cy="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" name="Straight Arrow Connector 18"/>
          <p:cNvSpPr/>
          <p:nvPr/>
        </p:nvSpPr>
        <p:spPr>
          <a:xfrm>
            <a:off x="5632875" y="3339939"/>
            <a:ext cx="977664" cy="76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" name="Arc 21"/>
          <p:cNvSpPr/>
          <p:nvPr/>
        </p:nvSpPr>
        <p:spPr>
          <a:xfrm rot="871670">
            <a:off x="4834792" y="2837646"/>
            <a:ext cx="3845803" cy="354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911" fill="norm" stroke="1" extrusionOk="0">
                <a:moveTo>
                  <a:pt x="0" y="9734"/>
                </a:moveTo>
                <a:lnTo>
                  <a:pt x="0" y="9734"/>
                </a:lnTo>
                <a:cubicBezTo>
                  <a:pt x="3089" y="604"/>
                  <a:pt x="10105" y="-2689"/>
                  <a:pt x="15669" y="2380"/>
                </a:cubicBezTo>
                <a:cubicBezTo>
                  <a:pt x="19330" y="5713"/>
                  <a:pt x="21600" y="12042"/>
                  <a:pt x="21600" y="18911"/>
                </a:cubicBezTo>
              </a:path>
            </a:pathLst>
          </a:cu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</p:txBody>
      </p:sp>
      <p:sp>
        <p:nvSpPr>
          <p:cNvPr id="733" name="Arc 22"/>
          <p:cNvSpPr/>
          <p:nvPr/>
        </p:nvSpPr>
        <p:spPr>
          <a:xfrm flipH="1" rot="20728332">
            <a:off x="345829" y="2837645"/>
            <a:ext cx="3845803" cy="354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911" fill="norm" stroke="1" extrusionOk="0">
                <a:moveTo>
                  <a:pt x="0" y="9734"/>
                </a:moveTo>
                <a:lnTo>
                  <a:pt x="0" y="9734"/>
                </a:lnTo>
                <a:cubicBezTo>
                  <a:pt x="3089" y="604"/>
                  <a:pt x="10105" y="-2689"/>
                  <a:pt x="15669" y="2380"/>
                </a:cubicBezTo>
                <a:cubicBezTo>
                  <a:pt x="19330" y="5713"/>
                  <a:pt x="21600" y="12042"/>
                  <a:pt x="21600" y="18911"/>
                </a:cubicBezTo>
              </a:path>
            </a:pathLst>
          </a:cu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</p:txBody>
      </p:sp>
      <p:sp>
        <p:nvSpPr>
          <p:cNvPr id="734" name="Straight Arrow Connector 23"/>
          <p:cNvSpPr/>
          <p:nvPr/>
        </p:nvSpPr>
        <p:spPr>
          <a:xfrm flipV="1">
            <a:off x="4765161" y="2145474"/>
            <a:ext cx="741435" cy="945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" name="Straight Arrow Connector 24"/>
          <p:cNvSpPr/>
          <p:nvPr/>
        </p:nvSpPr>
        <p:spPr>
          <a:xfrm>
            <a:off x="3415338" y="2145474"/>
            <a:ext cx="832462" cy="945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" name="TextBox 31"/>
          <p:cNvSpPr txBox="1"/>
          <p:nvPr/>
        </p:nvSpPr>
        <p:spPr>
          <a:xfrm>
            <a:off x="3579765" y="1631800"/>
            <a:ext cx="66101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737" name="TextBox 75"/>
          <p:cNvSpPr txBox="1"/>
          <p:nvPr/>
        </p:nvSpPr>
        <p:spPr>
          <a:xfrm>
            <a:off x="4810881" y="1631800"/>
            <a:ext cx="715875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738" name="TextBox 76"/>
          <p:cNvSpPr txBox="1"/>
          <p:nvPr/>
        </p:nvSpPr>
        <p:spPr>
          <a:xfrm>
            <a:off x="2613980" y="2804166"/>
            <a:ext cx="66101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739" name="TextBox 77"/>
          <p:cNvSpPr txBox="1"/>
          <p:nvPr/>
        </p:nvSpPr>
        <p:spPr>
          <a:xfrm>
            <a:off x="5737256" y="2800458"/>
            <a:ext cx="715874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740" name="TextBox 78"/>
          <p:cNvSpPr txBox="1"/>
          <p:nvPr/>
        </p:nvSpPr>
        <p:spPr>
          <a:xfrm>
            <a:off x="4180966" y="2829280"/>
            <a:ext cx="68387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z )</a:t>
            </a:r>
          </a:p>
        </p:txBody>
      </p:sp>
      <p:sp>
        <p:nvSpPr>
          <p:cNvPr id="741" name="Oval 87"/>
          <p:cNvSpPr/>
          <p:nvPr/>
        </p:nvSpPr>
        <p:spPr>
          <a:xfrm>
            <a:off x="774243" y="3852433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</p:txBody>
      </p:sp>
      <p:sp>
        <p:nvSpPr>
          <p:cNvPr id="742" name="Straight Arrow Connector 88"/>
          <p:cNvSpPr/>
          <p:nvPr/>
        </p:nvSpPr>
        <p:spPr>
          <a:xfrm flipH="1">
            <a:off x="713091" y="5015226"/>
            <a:ext cx="725777" cy="1"/>
          </a:xfrm>
          <a:prstGeom prst="line">
            <a:avLst/>
          </a:prstGeom>
          <a:ln w="25400">
            <a:solidFill>
              <a:srgbClr val="000000"/>
            </a:solidFill>
            <a:head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" name="TextBox 89"/>
          <p:cNvSpPr txBox="1"/>
          <p:nvPr/>
        </p:nvSpPr>
        <p:spPr>
          <a:xfrm>
            <a:off x="242135" y="4712198"/>
            <a:ext cx="362662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744" name="TextBox 90"/>
          <p:cNvSpPr txBox="1"/>
          <p:nvPr/>
        </p:nvSpPr>
        <p:spPr>
          <a:xfrm>
            <a:off x="1523221" y="4712198"/>
            <a:ext cx="347727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745" name="TextBox 91"/>
          <p:cNvSpPr txBox="1"/>
          <p:nvPr/>
        </p:nvSpPr>
        <p:spPr>
          <a:xfrm>
            <a:off x="2204407" y="3886194"/>
            <a:ext cx="6758128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= Funktionseinheit (Methode, Klasse, etc.)</a:t>
            </a:r>
          </a:p>
        </p:txBody>
      </p:sp>
      <p:sp>
        <p:nvSpPr>
          <p:cNvPr id="746" name="TextBox 92"/>
          <p:cNvSpPr txBox="1"/>
          <p:nvPr/>
        </p:nvSpPr>
        <p:spPr>
          <a:xfrm>
            <a:off x="2194784" y="4712198"/>
            <a:ext cx="648716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= Datenfluss (ein x fließt von A nach B)</a:t>
            </a:r>
          </a:p>
        </p:txBody>
      </p:sp>
      <p:sp>
        <p:nvSpPr>
          <p:cNvPr id="747" name="TextBox 93"/>
          <p:cNvSpPr txBox="1"/>
          <p:nvPr/>
        </p:nvSpPr>
        <p:spPr>
          <a:xfrm>
            <a:off x="684439" y="4464225"/>
            <a:ext cx="753823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748" name="Arc 96"/>
          <p:cNvSpPr/>
          <p:nvPr/>
        </p:nvSpPr>
        <p:spPr>
          <a:xfrm rot="1655292">
            <a:off x="1074035" y="5680610"/>
            <a:ext cx="726399" cy="177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853" fill="norm" stroke="1" extrusionOk="0">
                <a:moveTo>
                  <a:pt x="0" y="15999"/>
                </a:moveTo>
                <a:lnTo>
                  <a:pt x="0" y="15999"/>
                </a:lnTo>
                <a:cubicBezTo>
                  <a:pt x="1169" y="5245"/>
                  <a:pt x="6906" y="-1747"/>
                  <a:pt x="12813" y="381"/>
                </a:cubicBezTo>
                <a:cubicBezTo>
                  <a:pt x="17920" y="2221"/>
                  <a:pt x="21600" y="10376"/>
                  <a:pt x="21600" y="19853"/>
                </a:cubicBezTo>
              </a:path>
            </a:pathLst>
          </a:cu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</p:txBody>
      </p:sp>
      <p:sp>
        <p:nvSpPr>
          <p:cNvPr id="749" name="Arc 97"/>
          <p:cNvSpPr/>
          <p:nvPr/>
        </p:nvSpPr>
        <p:spPr>
          <a:xfrm flipH="1" rot="19857290">
            <a:off x="205364" y="5678663"/>
            <a:ext cx="703312" cy="1834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931" fill="norm" stroke="1" extrusionOk="0">
                <a:moveTo>
                  <a:pt x="0" y="16297"/>
                </a:moveTo>
                <a:cubicBezTo>
                  <a:pt x="1097" y="5476"/>
                  <a:pt x="6781" y="-1669"/>
                  <a:pt x="12695" y="338"/>
                </a:cubicBezTo>
                <a:cubicBezTo>
                  <a:pt x="17856" y="2090"/>
                  <a:pt x="21600" y="10327"/>
                  <a:pt x="21600" y="19931"/>
                </a:cubicBezTo>
              </a:path>
            </a:pathLst>
          </a:cu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</p:txBody>
      </p:sp>
      <p:sp>
        <p:nvSpPr>
          <p:cNvPr id="750" name="TextBox 98"/>
          <p:cNvSpPr txBox="1"/>
          <p:nvPr/>
        </p:nvSpPr>
        <p:spPr>
          <a:xfrm>
            <a:off x="2204407" y="5582620"/>
            <a:ext cx="2576627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= Verfeinerung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5" name="Oval 3"/>
          <p:cNvGrpSpPr/>
          <p:nvPr/>
        </p:nvGrpSpPr>
        <p:grpSpPr>
          <a:xfrm>
            <a:off x="4247798" y="1683155"/>
            <a:ext cx="517365" cy="501759"/>
            <a:chOff x="0" y="0"/>
            <a:chExt cx="517364" cy="501757"/>
          </a:xfrm>
        </p:grpSpPr>
        <p:sp>
          <p:nvSpPr>
            <p:cNvPr id="753" name="Oval"/>
            <p:cNvSpPr/>
            <p:nvPr/>
          </p:nvSpPr>
          <p:spPr>
            <a:xfrm>
              <a:off x="-1" y="0"/>
              <a:ext cx="517366" cy="501758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54" name="f"/>
            <p:cNvSpPr txBox="1"/>
            <p:nvPr/>
          </p:nvSpPr>
          <p:spPr>
            <a:xfrm>
              <a:off x="121485" y="46408"/>
              <a:ext cx="274392" cy="40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758" name="Oval 5"/>
          <p:cNvGrpSpPr/>
          <p:nvPr/>
        </p:nvGrpSpPr>
        <p:grpSpPr>
          <a:xfrm>
            <a:off x="5006121" y="2735971"/>
            <a:ext cx="661011" cy="766145"/>
            <a:chOff x="0" y="0"/>
            <a:chExt cx="661009" cy="766144"/>
          </a:xfrm>
        </p:grpSpPr>
        <p:sp>
          <p:nvSpPr>
            <p:cNvPr id="756" name="Oval"/>
            <p:cNvSpPr/>
            <p:nvPr/>
          </p:nvSpPr>
          <p:spPr>
            <a:xfrm>
              <a:off x="0" y="61464"/>
              <a:ext cx="661010" cy="643217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757" name="f2"/>
            <p:cNvSpPr txBox="1"/>
            <p:nvPr/>
          </p:nvSpPr>
          <p:spPr>
            <a:xfrm>
              <a:off x="145021" y="0"/>
              <a:ext cx="370967" cy="7661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f2</a:t>
              </a:r>
            </a:p>
          </p:txBody>
        </p:sp>
      </p:grpSp>
      <p:grpSp>
        <p:nvGrpSpPr>
          <p:cNvPr id="761" name="Oval 6"/>
          <p:cNvGrpSpPr/>
          <p:nvPr/>
        </p:nvGrpSpPr>
        <p:grpSpPr>
          <a:xfrm>
            <a:off x="3429058" y="2814103"/>
            <a:ext cx="626755" cy="609883"/>
            <a:chOff x="0" y="0"/>
            <a:chExt cx="626753" cy="609882"/>
          </a:xfrm>
        </p:grpSpPr>
        <p:sp>
          <p:nvSpPr>
            <p:cNvPr id="759" name="Oval"/>
            <p:cNvSpPr/>
            <p:nvPr/>
          </p:nvSpPr>
          <p:spPr>
            <a:xfrm>
              <a:off x="0" y="-1"/>
              <a:ext cx="626754" cy="609884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760" name="f1"/>
            <p:cNvSpPr txBox="1"/>
            <p:nvPr/>
          </p:nvSpPr>
          <p:spPr>
            <a:xfrm>
              <a:off x="137505" y="100470"/>
              <a:ext cx="351743" cy="40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f1</a:t>
              </a:r>
            </a:p>
          </p:txBody>
        </p:sp>
      </p:grpSp>
      <p:sp>
        <p:nvSpPr>
          <p:cNvPr id="762" name="TextBox 10"/>
          <p:cNvSpPr txBox="1"/>
          <p:nvPr/>
        </p:nvSpPr>
        <p:spPr>
          <a:xfrm>
            <a:off x="174768" y="345143"/>
            <a:ext cx="8794464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Mit</a:t>
            </a:r>
            <a:r>
              <a:rPr>
                <a:solidFill>
                  <a:srgbClr val="000000"/>
                </a:solidFill>
              </a:rPr>
              <a:t> Abhängigkeiten (</a:t>
            </a:r>
            <a:r>
              <a:t>FALSCH!!</a:t>
            </a:r>
            <a:r>
              <a:rPr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778" name="Straight Arrow Connector 12"/>
          <p:cNvSpPr/>
          <p:nvPr/>
        </p:nvSpPr>
        <p:spPr>
          <a:xfrm>
            <a:off x="4060486" y="3119043"/>
            <a:ext cx="940874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764" name="Straight Arrow Connector 17"/>
          <p:cNvSpPr/>
          <p:nvPr/>
        </p:nvSpPr>
        <p:spPr>
          <a:xfrm>
            <a:off x="2320532" y="3119043"/>
            <a:ext cx="1108527" cy="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5" name="Straight Arrow Connector 18"/>
          <p:cNvSpPr/>
          <p:nvPr/>
        </p:nvSpPr>
        <p:spPr>
          <a:xfrm>
            <a:off x="5632875" y="3119043"/>
            <a:ext cx="977664" cy="76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6" name="Arc 21"/>
          <p:cNvSpPr/>
          <p:nvPr/>
        </p:nvSpPr>
        <p:spPr>
          <a:xfrm rot="871670">
            <a:off x="4834792" y="2616750"/>
            <a:ext cx="3845803" cy="354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911" fill="norm" stroke="1" extrusionOk="0">
                <a:moveTo>
                  <a:pt x="0" y="9734"/>
                </a:moveTo>
                <a:lnTo>
                  <a:pt x="0" y="9734"/>
                </a:lnTo>
                <a:cubicBezTo>
                  <a:pt x="3089" y="604"/>
                  <a:pt x="10105" y="-2689"/>
                  <a:pt x="15669" y="2380"/>
                </a:cubicBezTo>
                <a:cubicBezTo>
                  <a:pt x="19330" y="5713"/>
                  <a:pt x="21600" y="12042"/>
                  <a:pt x="21600" y="18911"/>
                </a:cubicBezTo>
              </a:path>
            </a:pathLst>
          </a:cu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</p:txBody>
      </p:sp>
      <p:sp>
        <p:nvSpPr>
          <p:cNvPr id="767" name="Arc 22"/>
          <p:cNvSpPr/>
          <p:nvPr/>
        </p:nvSpPr>
        <p:spPr>
          <a:xfrm flipH="1" rot="20728332">
            <a:off x="345829" y="2616749"/>
            <a:ext cx="3845803" cy="354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911" fill="norm" stroke="1" extrusionOk="0">
                <a:moveTo>
                  <a:pt x="0" y="9734"/>
                </a:moveTo>
                <a:lnTo>
                  <a:pt x="0" y="9734"/>
                </a:lnTo>
                <a:cubicBezTo>
                  <a:pt x="3089" y="604"/>
                  <a:pt x="10105" y="-2689"/>
                  <a:pt x="15669" y="2380"/>
                </a:cubicBezTo>
                <a:cubicBezTo>
                  <a:pt x="19330" y="5713"/>
                  <a:pt x="21600" y="12042"/>
                  <a:pt x="21600" y="18911"/>
                </a:cubicBezTo>
              </a:path>
            </a:pathLst>
          </a:cu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</p:txBody>
      </p:sp>
      <p:sp>
        <p:nvSpPr>
          <p:cNvPr id="768" name="Straight Arrow Connector 23"/>
          <p:cNvSpPr/>
          <p:nvPr/>
        </p:nvSpPr>
        <p:spPr>
          <a:xfrm flipV="1">
            <a:off x="4765161" y="1924578"/>
            <a:ext cx="741435" cy="945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9" name="Straight Arrow Connector 24"/>
          <p:cNvSpPr/>
          <p:nvPr/>
        </p:nvSpPr>
        <p:spPr>
          <a:xfrm>
            <a:off x="3415338" y="1924578"/>
            <a:ext cx="832462" cy="945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70" name="TextBox 31"/>
          <p:cNvSpPr txBox="1"/>
          <p:nvPr/>
        </p:nvSpPr>
        <p:spPr>
          <a:xfrm>
            <a:off x="3579765" y="1410904"/>
            <a:ext cx="66101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771" name="TextBox 75"/>
          <p:cNvSpPr txBox="1"/>
          <p:nvPr/>
        </p:nvSpPr>
        <p:spPr>
          <a:xfrm>
            <a:off x="4810881" y="1410904"/>
            <a:ext cx="715875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772" name="TextBox 76"/>
          <p:cNvSpPr txBox="1"/>
          <p:nvPr/>
        </p:nvSpPr>
        <p:spPr>
          <a:xfrm>
            <a:off x="2613980" y="2583270"/>
            <a:ext cx="66101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773" name="TextBox 77"/>
          <p:cNvSpPr txBox="1"/>
          <p:nvPr/>
        </p:nvSpPr>
        <p:spPr>
          <a:xfrm>
            <a:off x="5737256" y="2579563"/>
            <a:ext cx="715874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774" name="TextBox 78"/>
          <p:cNvSpPr txBox="1"/>
          <p:nvPr/>
        </p:nvSpPr>
        <p:spPr>
          <a:xfrm>
            <a:off x="4180966" y="2608384"/>
            <a:ext cx="68387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z )</a:t>
            </a:r>
          </a:p>
        </p:txBody>
      </p:sp>
      <p:sp>
        <p:nvSpPr>
          <p:cNvPr id="775" name="TextBox 80"/>
          <p:cNvSpPr txBox="1"/>
          <p:nvPr/>
        </p:nvSpPr>
        <p:spPr>
          <a:xfrm>
            <a:off x="970649" y="3810374"/>
            <a:ext cx="2035964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Y f(X x) {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return f1(x);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}</a:t>
            </a:r>
          </a:p>
        </p:txBody>
      </p:sp>
      <p:sp>
        <p:nvSpPr>
          <p:cNvPr id="776" name="TextBox 81"/>
          <p:cNvSpPr txBox="1"/>
          <p:nvPr/>
        </p:nvSpPr>
        <p:spPr>
          <a:xfrm>
            <a:off x="3652620" y="3792911"/>
            <a:ext cx="2088389" cy="199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Y f1(X x) {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var z = </a:t>
            </a:r>
            <a:r>
              <a:t>….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return f2(z);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}</a:t>
            </a:r>
          </a:p>
        </p:txBody>
      </p:sp>
      <p:sp>
        <p:nvSpPr>
          <p:cNvPr id="777" name="TextBox 82"/>
          <p:cNvSpPr txBox="1"/>
          <p:nvPr/>
        </p:nvSpPr>
        <p:spPr>
          <a:xfrm>
            <a:off x="6161230" y="3806716"/>
            <a:ext cx="1700074" cy="199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Y f2(Z z) {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var y = </a:t>
            </a:r>
            <a:r>
              <a:t>…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return y;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2" name="Oval 3"/>
          <p:cNvGrpSpPr/>
          <p:nvPr/>
        </p:nvGrpSpPr>
        <p:grpSpPr>
          <a:xfrm>
            <a:off x="4247798" y="1683155"/>
            <a:ext cx="517365" cy="501759"/>
            <a:chOff x="0" y="0"/>
            <a:chExt cx="517364" cy="501757"/>
          </a:xfrm>
        </p:grpSpPr>
        <p:sp>
          <p:nvSpPr>
            <p:cNvPr id="780" name="Oval"/>
            <p:cNvSpPr/>
            <p:nvPr/>
          </p:nvSpPr>
          <p:spPr>
            <a:xfrm>
              <a:off x="-1" y="0"/>
              <a:ext cx="517366" cy="501758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81" name="f"/>
            <p:cNvSpPr txBox="1"/>
            <p:nvPr/>
          </p:nvSpPr>
          <p:spPr>
            <a:xfrm>
              <a:off x="121485" y="46408"/>
              <a:ext cx="274392" cy="40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785" name="Oval 5"/>
          <p:cNvGrpSpPr/>
          <p:nvPr/>
        </p:nvGrpSpPr>
        <p:grpSpPr>
          <a:xfrm>
            <a:off x="5006121" y="2735971"/>
            <a:ext cx="661011" cy="766145"/>
            <a:chOff x="0" y="0"/>
            <a:chExt cx="661009" cy="766144"/>
          </a:xfrm>
        </p:grpSpPr>
        <p:sp>
          <p:nvSpPr>
            <p:cNvPr id="783" name="Oval"/>
            <p:cNvSpPr/>
            <p:nvPr/>
          </p:nvSpPr>
          <p:spPr>
            <a:xfrm>
              <a:off x="0" y="61464"/>
              <a:ext cx="661010" cy="643217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784" name="f2"/>
            <p:cNvSpPr txBox="1"/>
            <p:nvPr/>
          </p:nvSpPr>
          <p:spPr>
            <a:xfrm>
              <a:off x="145021" y="0"/>
              <a:ext cx="370967" cy="7661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f2</a:t>
              </a:r>
            </a:p>
          </p:txBody>
        </p:sp>
      </p:grpSp>
      <p:grpSp>
        <p:nvGrpSpPr>
          <p:cNvPr id="788" name="Oval 6"/>
          <p:cNvGrpSpPr/>
          <p:nvPr/>
        </p:nvGrpSpPr>
        <p:grpSpPr>
          <a:xfrm>
            <a:off x="3429058" y="2814103"/>
            <a:ext cx="626755" cy="609883"/>
            <a:chOff x="0" y="0"/>
            <a:chExt cx="626753" cy="609882"/>
          </a:xfrm>
        </p:grpSpPr>
        <p:sp>
          <p:nvSpPr>
            <p:cNvPr id="786" name="Oval"/>
            <p:cNvSpPr/>
            <p:nvPr/>
          </p:nvSpPr>
          <p:spPr>
            <a:xfrm>
              <a:off x="0" y="-1"/>
              <a:ext cx="626754" cy="609884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787" name="f1"/>
            <p:cNvSpPr txBox="1"/>
            <p:nvPr/>
          </p:nvSpPr>
          <p:spPr>
            <a:xfrm>
              <a:off x="137505" y="100470"/>
              <a:ext cx="351743" cy="40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f1</a:t>
              </a:r>
            </a:p>
          </p:txBody>
        </p:sp>
      </p:grpSp>
      <p:sp>
        <p:nvSpPr>
          <p:cNvPr id="808" name="Straight Arrow Connector 12"/>
          <p:cNvSpPr/>
          <p:nvPr/>
        </p:nvSpPr>
        <p:spPr>
          <a:xfrm>
            <a:off x="4060486" y="3119043"/>
            <a:ext cx="940874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790" name="Straight Arrow Connector 17"/>
          <p:cNvSpPr/>
          <p:nvPr/>
        </p:nvSpPr>
        <p:spPr>
          <a:xfrm>
            <a:off x="2320532" y="3119043"/>
            <a:ext cx="1108527" cy="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" name="Straight Arrow Connector 18"/>
          <p:cNvSpPr/>
          <p:nvPr/>
        </p:nvSpPr>
        <p:spPr>
          <a:xfrm>
            <a:off x="5632875" y="3119043"/>
            <a:ext cx="977664" cy="76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" name="Arc 21"/>
          <p:cNvSpPr/>
          <p:nvPr/>
        </p:nvSpPr>
        <p:spPr>
          <a:xfrm rot="871670">
            <a:off x="4834792" y="2616750"/>
            <a:ext cx="3845803" cy="354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911" fill="norm" stroke="1" extrusionOk="0">
                <a:moveTo>
                  <a:pt x="0" y="9734"/>
                </a:moveTo>
                <a:lnTo>
                  <a:pt x="0" y="9734"/>
                </a:lnTo>
                <a:cubicBezTo>
                  <a:pt x="3089" y="604"/>
                  <a:pt x="10105" y="-2689"/>
                  <a:pt x="15669" y="2380"/>
                </a:cubicBezTo>
                <a:cubicBezTo>
                  <a:pt x="19330" y="5713"/>
                  <a:pt x="21600" y="12042"/>
                  <a:pt x="21600" y="18911"/>
                </a:cubicBezTo>
              </a:path>
            </a:pathLst>
          </a:cu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</p:txBody>
      </p:sp>
      <p:sp>
        <p:nvSpPr>
          <p:cNvPr id="793" name="Arc 22"/>
          <p:cNvSpPr/>
          <p:nvPr/>
        </p:nvSpPr>
        <p:spPr>
          <a:xfrm flipH="1" rot="20728332">
            <a:off x="345829" y="2616749"/>
            <a:ext cx="3845803" cy="354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911" fill="norm" stroke="1" extrusionOk="0">
                <a:moveTo>
                  <a:pt x="0" y="9734"/>
                </a:moveTo>
                <a:lnTo>
                  <a:pt x="0" y="9734"/>
                </a:lnTo>
                <a:cubicBezTo>
                  <a:pt x="3089" y="604"/>
                  <a:pt x="10105" y="-2689"/>
                  <a:pt x="15669" y="2380"/>
                </a:cubicBezTo>
                <a:cubicBezTo>
                  <a:pt x="19330" y="5713"/>
                  <a:pt x="21600" y="12042"/>
                  <a:pt x="21600" y="18911"/>
                </a:cubicBezTo>
              </a:path>
            </a:pathLst>
          </a:cu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</p:txBody>
      </p:sp>
      <p:sp>
        <p:nvSpPr>
          <p:cNvPr id="794" name="Straight Arrow Connector 23"/>
          <p:cNvSpPr/>
          <p:nvPr/>
        </p:nvSpPr>
        <p:spPr>
          <a:xfrm flipV="1">
            <a:off x="4765161" y="1924578"/>
            <a:ext cx="741435" cy="945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5" name="Straight Arrow Connector 24"/>
          <p:cNvSpPr/>
          <p:nvPr/>
        </p:nvSpPr>
        <p:spPr>
          <a:xfrm>
            <a:off x="3415338" y="1924578"/>
            <a:ext cx="832462" cy="945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6" name="TextBox 31"/>
          <p:cNvSpPr txBox="1"/>
          <p:nvPr/>
        </p:nvSpPr>
        <p:spPr>
          <a:xfrm>
            <a:off x="3579765" y="1410904"/>
            <a:ext cx="66101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797" name="TextBox 75"/>
          <p:cNvSpPr txBox="1"/>
          <p:nvPr/>
        </p:nvSpPr>
        <p:spPr>
          <a:xfrm>
            <a:off x="4810881" y="1410904"/>
            <a:ext cx="715875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798" name="TextBox 76"/>
          <p:cNvSpPr txBox="1"/>
          <p:nvPr/>
        </p:nvSpPr>
        <p:spPr>
          <a:xfrm>
            <a:off x="2613980" y="2583270"/>
            <a:ext cx="66101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799" name="TextBox 77"/>
          <p:cNvSpPr txBox="1"/>
          <p:nvPr/>
        </p:nvSpPr>
        <p:spPr>
          <a:xfrm>
            <a:off x="5737256" y="2579563"/>
            <a:ext cx="715874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800" name="TextBox 78"/>
          <p:cNvSpPr txBox="1"/>
          <p:nvPr/>
        </p:nvSpPr>
        <p:spPr>
          <a:xfrm>
            <a:off x="4180966" y="2608384"/>
            <a:ext cx="68387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z )</a:t>
            </a:r>
          </a:p>
        </p:txBody>
      </p:sp>
      <p:sp>
        <p:nvSpPr>
          <p:cNvPr id="801" name="TextBox 80"/>
          <p:cNvSpPr txBox="1"/>
          <p:nvPr/>
        </p:nvSpPr>
        <p:spPr>
          <a:xfrm>
            <a:off x="970645" y="3810374"/>
            <a:ext cx="2035964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Y f(X x) {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return f1(x);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}</a:t>
            </a:r>
          </a:p>
        </p:txBody>
      </p:sp>
      <p:sp>
        <p:nvSpPr>
          <p:cNvPr id="802" name="TextBox 81"/>
          <p:cNvSpPr txBox="1"/>
          <p:nvPr/>
        </p:nvSpPr>
        <p:spPr>
          <a:xfrm>
            <a:off x="3654591" y="3791253"/>
            <a:ext cx="2088389" cy="199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solidFill>
                  <a:srgbClr val="FF0000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Y</a:t>
            </a:r>
            <a:r>
              <a:rPr>
                <a:solidFill>
                  <a:srgbClr val="000000"/>
                </a:solidFill>
              </a:rPr>
              <a:t> f1(X x) {</a:t>
            </a:r>
            <a:endParaRPr>
              <a:solidFill>
                <a:srgbClr val="000000"/>
              </a:solidFill>
            </a:endParaRP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var z = </a:t>
            </a:r>
            <a:r>
              <a:t>….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return </a:t>
            </a:r>
            <a:r>
              <a:rPr>
                <a:solidFill>
                  <a:srgbClr val="FF0000"/>
                </a:solidFill>
              </a:rPr>
              <a:t>f2</a:t>
            </a:r>
            <a:r>
              <a:t>(z);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}</a:t>
            </a:r>
          </a:p>
        </p:txBody>
      </p:sp>
      <p:sp>
        <p:nvSpPr>
          <p:cNvPr id="803" name="TextBox 82"/>
          <p:cNvSpPr txBox="1"/>
          <p:nvPr/>
        </p:nvSpPr>
        <p:spPr>
          <a:xfrm>
            <a:off x="6161821" y="3806716"/>
            <a:ext cx="1700074" cy="199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Y f2(Z z) {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var y = </a:t>
            </a:r>
            <a:r>
              <a:t>…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return y;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}</a:t>
            </a:r>
          </a:p>
        </p:txBody>
      </p:sp>
      <p:sp>
        <p:nvSpPr>
          <p:cNvPr id="804" name="TextBox 20"/>
          <p:cNvSpPr txBox="1"/>
          <p:nvPr/>
        </p:nvSpPr>
        <p:spPr>
          <a:xfrm>
            <a:off x="970645" y="5697273"/>
            <a:ext cx="2069144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8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Integration</a:t>
            </a:r>
          </a:p>
        </p:txBody>
      </p:sp>
      <p:sp>
        <p:nvSpPr>
          <p:cNvPr id="805" name="TextBox 25"/>
          <p:cNvSpPr txBox="1"/>
          <p:nvPr/>
        </p:nvSpPr>
        <p:spPr>
          <a:xfrm>
            <a:off x="3579765" y="5697273"/>
            <a:ext cx="2409464" cy="105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>
                <a:solidFill>
                  <a:srgbClr val="FF66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Integration +</a:t>
            </a:r>
          </a:p>
          <a:p>
            <a:pPr>
              <a:defRPr sz="2800">
                <a:solidFill>
                  <a:srgbClr val="FF66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Operation</a:t>
            </a:r>
          </a:p>
        </p:txBody>
      </p:sp>
      <p:sp>
        <p:nvSpPr>
          <p:cNvPr id="806" name="TextBox 26"/>
          <p:cNvSpPr txBox="1"/>
          <p:nvPr/>
        </p:nvSpPr>
        <p:spPr>
          <a:xfrm>
            <a:off x="6161821" y="5680676"/>
            <a:ext cx="1848978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8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Operation</a:t>
            </a:r>
          </a:p>
        </p:txBody>
      </p:sp>
      <p:sp>
        <p:nvSpPr>
          <p:cNvPr id="807" name="TextBox 27"/>
          <p:cNvSpPr txBox="1"/>
          <p:nvPr/>
        </p:nvSpPr>
        <p:spPr>
          <a:xfrm>
            <a:off x="174768" y="345143"/>
            <a:ext cx="8794464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Mit</a:t>
            </a:r>
            <a:r>
              <a:rPr>
                <a:solidFill>
                  <a:srgbClr val="000000"/>
                </a:solidFill>
              </a:rPr>
              <a:t> Abhängigkeiten (</a:t>
            </a:r>
            <a:r>
              <a:t>FALSCH!!</a:t>
            </a:r>
            <a:r>
              <a:rPr>
                <a:solidFill>
                  <a:srgbClr val="000000"/>
                </a:solidFill>
              </a:rP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2" name="Oval 3"/>
          <p:cNvGrpSpPr/>
          <p:nvPr/>
        </p:nvGrpSpPr>
        <p:grpSpPr>
          <a:xfrm>
            <a:off x="4247798" y="1683155"/>
            <a:ext cx="517365" cy="501759"/>
            <a:chOff x="0" y="0"/>
            <a:chExt cx="517364" cy="501757"/>
          </a:xfrm>
        </p:grpSpPr>
        <p:sp>
          <p:nvSpPr>
            <p:cNvPr id="810" name="Oval"/>
            <p:cNvSpPr/>
            <p:nvPr/>
          </p:nvSpPr>
          <p:spPr>
            <a:xfrm>
              <a:off x="-1" y="0"/>
              <a:ext cx="517366" cy="501758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11" name="f"/>
            <p:cNvSpPr txBox="1"/>
            <p:nvPr/>
          </p:nvSpPr>
          <p:spPr>
            <a:xfrm>
              <a:off x="121485" y="46408"/>
              <a:ext cx="274392" cy="40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815" name="Oval 5"/>
          <p:cNvGrpSpPr/>
          <p:nvPr/>
        </p:nvGrpSpPr>
        <p:grpSpPr>
          <a:xfrm>
            <a:off x="5006121" y="2735971"/>
            <a:ext cx="661011" cy="766145"/>
            <a:chOff x="0" y="0"/>
            <a:chExt cx="661009" cy="766144"/>
          </a:xfrm>
        </p:grpSpPr>
        <p:sp>
          <p:nvSpPr>
            <p:cNvPr id="813" name="Oval"/>
            <p:cNvSpPr/>
            <p:nvPr/>
          </p:nvSpPr>
          <p:spPr>
            <a:xfrm>
              <a:off x="0" y="61464"/>
              <a:ext cx="661010" cy="643217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814" name="f2"/>
            <p:cNvSpPr txBox="1"/>
            <p:nvPr/>
          </p:nvSpPr>
          <p:spPr>
            <a:xfrm>
              <a:off x="145021" y="0"/>
              <a:ext cx="370967" cy="7661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f2</a:t>
              </a:r>
            </a:p>
          </p:txBody>
        </p:sp>
      </p:grpSp>
      <p:grpSp>
        <p:nvGrpSpPr>
          <p:cNvPr id="818" name="Oval 6"/>
          <p:cNvGrpSpPr/>
          <p:nvPr/>
        </p:nvGrpSpPr>
        <p:grpSpPr>
          <a:xfrm>
            <a:off x="3429058" y="2814103"/>
            <a:ext cx="626755" cy="609883"/>
            <a:chOff x="0" y="0"/>
            <a:chExt cx="626753" cy="609882"/>
          </a:xfrm>
        </p:grpSpPr>
        <p:sp>
          <p:nvSpPr>
            <p:cNvPr id="816" name="Oval"/>
            <p:cNvSpPr/>
            <p:nvPr/>
          </p:nvSpPr>
          <p:spPr>
            <a:xfrm>
              <a:off x="0" y="-1"/>
              <a:ext cx="626754" cy="609884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817" name="f1"/>
            <p:cNvSpPr txBox="1"/>
            <p:nvPr/>
          </p:nvSpPr>
          <p:spPr>
            <a:xfrm>
              <a:off x="137505" y="100470"/>
              <a:ext cx="351743" cy="40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f1</a:t>
              </a:r>
            </a:p>
          </p:txBody>
        </p:sp>
      </p:grpSp>
      <p:sp>
        <p:nvSpPr>
          <p:cNvPr id="819" name="TextBox 10"/>
          <p:cNvSpPr txBox="1"/>
          <p:nvPr/>
        </p:nvSpPr>
        <p:spPr>
          <a:xfrm>
            <a:off x="1548576" y="345143"/>
            <a:ext cx="6046848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solidFill>
                  <a:srgbClr val="008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Ohne</a:t>
            </a:r>
            <a:r>
              <a:rPr>
                <a:solidFill>
                  <a:srgbClr val="000000"/>
                </a:solidFill>
              </a:rPr>
              <a:t> Abhängigkeiten</a:t>
            </a:r>
          </a:p>
        </p:txBody>
      </p:sp>
      <p:sp>
        <p:nvSpPr>
          <p:cNvPr id="835" name="Straight Arrow Connector 12"/>
          <p:cNvSpPr/>
          <p:nvPr/>
        </p:nvSpPr>
        <p:spPr>
          <a:xfrm>
            <a:off x="4060486" y="3119043"/>
            <a:ext cx="940874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821" name="Straight Arrow Connector 17"/>
          <p:cNvSpPr/>
          <p:nvPr/>
        </p:nvSpPr>
        <p:spPr>
          <a:xfrm>
            <a:off x="2320532" y="3119043"/>
            <a:ext cx="1108527" cy="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2" name="Straight Arrow Connector 18"/>
          <p:cNvSpPr/>
          <p:nvPr/>
        </p:nvSpPr>
        <p:spPr>
          <a:xfrm>
            <a:off x="5632875" y="3119043"/>
            <a:ext cx="977664" cy="76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3" name="Arc 21"/>
          <p:cNvSpPr/>
          <p:nvPr/>
        </p:nvSpPr>
        <p:spPr>
          <a:xfrm rot="871670">
            <a:off x="4834792" y="2616750"/>
            <a:ext cx="3845803" cy="354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911" fill="norm" stroke="1" extrusionOk="0">
                <a:moveTo>
                  <a:pt x="0" y="9734"/>
                </a:moveTo>
                <a:lnTo>
                  <a:pt x="0" y="9734"/>
                </a:lnTo>
                <a:cubicBezTo>
                  <a:pt x="3089" y="604"/>
                  <a:pt x="10105" y="-2689"/>
                  <a:pt x="15669" y="2380"/>
                </a:cubicBezTo>
                <a:cubicBezTo>
                  <a:pt x="19330" y="5713"/>
                  <a:pt x="21600" y="12042"/>
                  <a:pt x="21600" y="18911"/>
                </a:cubicBezTo>
              </a:path>
            </a:pathLst>
          </a:cu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</p:txBody>
      </p:sp>
      <p:sp>
        <p:nvSpPr>
          <p:cNvPr id="824" name="Arc 22"/>
          <p:cNvSpPr/>
          <p:nvPr/>
        </p:nvSpPr>
        <p:spPr>
          <a:xfrm flipH="1" rot="20728332">
            <a:off x="345829" y="2616749"/>
            <a:ext cx="3845803" cy="354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911" fill="norm" stroke="1" extrusionOk="0">
                <a:moveTo>
                  <a:pt x="0" y="9734"/>
                </a:moveTo>
                <a:lnTo>
                  <a:pt x="0" y="9734"/>
                </a:lnTo>
                <a:cubicBezTo>
                  <a:pt x="3089" y="604"/>
                  <a:pt x="10105" y="-2689"/>
                  <a:pt x="15669" y="2380"/>
                </a:cubicBezTo>
                <a:cubicBezTo>
                  <a:pt x="19330" y="5713"/>
                  <a:pt x="21600" y="12042"/>
                  <a:pt x="21600" y="18911"/>
                </a:cubicBezTo>
              </a:path>
            </a:pathLst>
          </a:cu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</p:txBody>
      </p:sp>
      <p:sp>
        <p:nvSpPr>
          <p:cNvPr id="825" name="Straight Arrow Connector 23"/>
          <p:cNvSpPr/>
          <p:nvPr/>
        </p:nvSpPr>
        <p:spPr>
          <a:xfrm flipV="1">
            <a:off x="4765161" y="1924578"/>
            <a:ext cx="741435" cy="945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" name="Straight Arrow Connector 24"/>
          <p:cNvSpPr/>
          <p:nvPr/>
        </p:nvSpPr>
        <p:spPr>
          <a:xfrm>
            <a:off x="3415338" y="1924578"/>
            <a:ext cx="832462" cy="945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7" name="TextBox 31"/>
          <p:cNvSpPr txBox="1"/>
          <p:nvPr/>
        </p:nvSpPr>
        <p:spPr>
          <a:xfrm>
            <a:off x="3579765" y="1410904"/>
            <a:ext cx="66101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828" name="TextBox 75"/>
          <p:cNvSpPr txBox="1"/>
          <p:nvPr/>
        </p:nvSpPr>
        <p:spPr>
          <a:xfrm>
            <a:off x="4810881" y="1410904"/>
            <a:ext cx="715875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829" name="TextBox 76"/>
          <p:cNvSpPr txBox="1"/>
          <p:nvPr/>
        </p:nvSpPr>
        <p:spPr>
          <a:xfrm>
            <a:off x="2613980" y="2583270"/>
            <a:ext cx="66101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830" name="TextBox 77"/>
          <p:cNvSpPr txBox="1"/>
          <p:nvPr/>
        </p:nvSpPr>
        <p:spPr>
          <a:xfrm>
            <a:off x="5737256" y="2579563"/>
            <a:ext cx="715874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831" name="TextBox 78"/>
          <p:cNvSpPr txBox="1"/>
          <p:nvPr/>
        </p:nvSpPr>
        <p:spPr>
          <a:xfrm>
            <a:off x="4180966" y="2608384"/>
            <a:ext cx="68387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z )</a:t>
            </a:r>
          </a:p>
        </p:txBody>
      </p:sp>
      <p:sp>
        <p:nvSpPr>
          <p:cNvPr id="832" name="TextBox 80"/>
          <p:cNvSpPr txBox="1"/>
          <p:nvPr/>
        </p:nvSpPr>
        <p:spPr>
          <a:xfrm>
            <a:off x="970646" y="3810374"/>
            <a:ext cx="2272793" cy="199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Y f(X x) {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var z = f1(x);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var y = f2(z);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return y;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}</a:t>
            </a:r>
          </a:p>
        </p:txBody>
      </p:sp>
      <p:sp>
        <p:nvSpPr>
          <p:cNvPr id="833" name="TextBox 81"/>
          <p:cNvSpPr txBox="1"/>
          <p:nvPr/>
        </p:nvSpPr>
        <p:spPr>
          <a:xfrm>
            <a:off x="3579765" y="3806716"/>
            <a:ext cx="1748842" cy="199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Z f1(X x) {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var z = </a:t>
            </a:r>
            <a:r>
              <a:t>….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return z;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}</a:t>
            </a:r>
          </a:p>
        </p:txBody>
      </p:sp>
      <p:sp>
        <p:nvSpPr>
          <p:cNvPr id="834" name="TextBox 82"/>
          <p:cNvSpPr txBox="1"/>
          <p:nvPr/>
        </p:nvSpPr>
        <p:spPr>
          <a:xfrm>
            <a:off x="6050787" y="3806716"/>
            <a:ext cx="1700074" cy="199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Y f2(Z z) {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var y = </a:t>
            </a:r>
            <a:r>
              <a:t>…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return y;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" name="Oval 3"/>
          <p:cNvGrpSpPr/>
          <p:nvPr/>
        </p:nvGrpSpPr>
        <p:grpSpPr>
          <a:xfrm>
            <a:off x="4247798" y="1683155"/>
            <a:ext cx="517365" cy="501759"/>
            <a:chOff x="0" y="0"/>
            <a:chExt cx="517364" cy="501757"/>
          </a:xfrm>
        </p:grpSpPr>
        <p:sp>
          <p:nvSpPr>
            <p:cNvPr id="837" name="Oval"/>
            <p:cNvSpPr/>
            <p:nvPr/>
          </p:nvSpPr>
          <p:spPr>
            <a:xfrm>
              <a:off x="-1" y="0"/>
              <a:ext cx="517366" cy="501758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38" name="f"/>
            <p:cNvSpPr txBox="1"/>
            <p:nvPr/>
          </p:nvSpPr>
          <p:spPr>
            <a:xfrm>
              <a:off x="121485" y="46408"/>
              <a:ext cx="274392" cy="40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842" name="Oval 5"/>
          <p:cNvGrpSpPr/>
          <p:nvPr/>
        </p:nvGrpSpPr>
        <p:grpSpPr>
          <a:xfrm>
            <a:off x="5006121" y="2735971"/>
            <a:ext cx="661011" cy="766145"/>
            <a:chOff x="0" y="0"/>
            <a:chExt cx="661009" cy="766144"/>
          </a:xfrm>
        </p:grpSpPr>
        <p:sp>
          <p:nvSpPr>
            <p:cNvPr id="840" name="Oval"/>
            <p:cNvSpPr/>
            <p:nvPr/>
          </p:nvSpPr>
          <p:spPr>
            <a:xfrm>
              <a:off x="0" y="61464"/>
              <a:ext cx="661010" cy="643217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841" name="f2"/>
            <p:cNvSpPr txBox="1"/>
            <p:nvPr/>
          </p:nvSpPr>
          <p:spPr>
            <a:xfrm>
              <a:off x="145021" y="0"/>
              <a:ext cx="370967" cy="7661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f2</a:t>
              </a:r>
            </a:p>
          </p:txBody>
        </p:sp>
      </p:grpSp>
      <p:grpSp>
        <p:nvGrpSpPr>
          <p:cNvPr id="845" name="Oval 6"/>
          <p:cNvGrpSpPr/>
          <p:nvPr/>
        </p:nvGrpSpPr>
        <p:grpSpPr>
          <a:xfrm>
            <a:off x="3429058" y="2814103"/>
            <a:ext cx="626755" cy="609883"/>
            <a:chOff x="0" y="0"/>
            <a:chExt cx="626753" cy="609882"/>
          </a:xfrm>
        </p:grpSpPr>
        <p:sp>
          <p:nvSpPr>
            <p:cNvPr id="843" name="Oval"/>
            <p:cNvSpPr/>
            <p:nvPr/>
          </p:nvSpPr>
          <p:spPr>
            <a:xfrm>
              <a:off x="0" y="-1"/>
              <a:ext cx="626754" cy="609884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844" name="f1"/>
            <p:cNvSpPr txBox="1"/>
            <p:nvPr/>
          </p:nvSpPr>
          <p:spPr>
            <a:xfrm>
              <a:off x="137505" y="100470"/>
              <a:ext cx="351743" cy="40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f1</a:t>
              </a:r>
            </a:p>
          </p:txBody>
        </p:sp>
      </p:grpSp>
      <p:sp>
        <p:nvSpPr>
          <p:cNvPr id="865" name="Straight Arrow Connector 12"/>
          <p:cNvSpPr/>
          <p:nvPr/>
        </p:nvSpPr>
        <p:spPr>
          <a:xfrm>
            <a:off x="4060486" y="3119043"/>
            <a:ext cx="940874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847" name="Straight Arrow Connector 17"/>
          <p:cNvSpPr/>
          <p:nvPr/>
        </p:nvSpPr>
        <p:spPr>
          <a:xfrm>
            <a:off x="2320532" y="3119043"/>
            <a:ext cx="1108527" cy="1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8" name="Straight Arrow Connector 18"/>
          <p:cNvSpPr/>
          <p:nvPr/>
        </p:nvSpPr>
        <p:spPr>
          <a:xfrm>
            <a:off x="5632875" y="3119043"/>
            <a:ext cx="977664" cy="76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9" name="Arc 21"/>
          <p:cNvSpPr/>
          <p:nvPr/>
        </p:nvSpPr>
        <p:spPr>
          <a:xfrm rot="871670">
            <a:off x="4834792" y="2616750"/>
            <a:ext cx="3845803" cy="354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911" fill="norm" stroke="1" extrusionOk="0">
                <a:moveTo>
                  <a:pt x="0" y="9734"/>
                </a:moveTo>
                <a:lnTo>
                  <a:pt x="0" y="9734"/>
                </a:lnTo>
                <a:cubicBezTo>
                  <a:pt x="3089" y="604"/>
                  <a:pt x="10105" y="-2689"/>
                  <a:pt x="15669" y="2380"/>
                </a:cubicBezTo>
                <a:cubicBezTo>
                  <a:pt x="19330" y="5713"/>
                  <a:pt x="21600" y="12042"/>
                  <a:pt x="21600" y="18911"/>
                </a:cubicBezTo>
              </a:path>
            </a:pathLst>
          </a:cu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</p:txBody>
      </p:sp>
      <p:sp>
        <p:nvSpPr>
          <p:cNvPr id="850" name="Arc 22"/>
          <p:cNvSpPr/>
          <p:nvPr/>
        </p:nvSpPr>
        <p:spPr>
          <a:xfrm flipH="1" rot="20728332">
            <a:off x="345829" y="2616749"/>
            <a:ext cx="3845803" cy="354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911" fill="norm" stroke="1" extrusionOk="0">
                <a:moveTo>
                  <a:pt x="0" y="9734"/>
                </a:moveTo>
                <a:lnTo>
                  <a:pt x="0" y="9734"/>
                </a:lnTo>
                <a:cubicBezTo>
                  <a:pt x="3089" y="604"/>
                  <a:pt x="10105" y="-2689"/>
                  <a:pt x="15669" y="2380"/>
                </a:cubicBezTo>
                <a:cubicBezTo>
                  <a:pt x="19330" y="5713"/>
                  <a:pt x="21600" y="12042"/>
                  <a:pt x="21600" y="18911"/>
                </a:cubicBezTo>
              </a:path>
            </a:pathLst>
          </a:cu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</p:txBody>
      </p:sp>
      <p:sp>
        <p:nvSpPr>
          <p:cNvPr id="851" name="Straight Arrow Connector 23"/>
          <p:cNvSpPr/>
          <p:nvPr/>
        </p:nvSpPr>
        <p:spPr>
          <a:xfrm flipV="1">
            <a:off x="4765161" y="1924578"/>
            <a:ext cx="741435" cy="945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2" name="Straight Arrow Connector 24"/>
          <p:cNvSpPr/>
          <p:nvPr/>
        </p:nvSpPr>
        <p:spPr>
          <a:xfrm>
            <a:off x="3415338" y="1924578"/>
            <a:ext cx="832462" cy="9458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3" name="TextBox 31"/>
          <p:cNvSpPr txBox="1"/>
          <p:nvPr/>
        </p:nvSpPr>
        <p:spPr>
          <a:xfrm>
            <a:off x="3579765" y="1410904"/>
            <a:ext cx="66101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854" name="TextBox 75"/>
          <p:cNvSpPr txBox="1"/>
          <p:nvPr/>
        </p:nvSpPr>
        <p:spPr>
          <a:xfrm>
            <a:off x="4810881" y="1410904"/>
            <a:ext cx="715875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855" name="TextBox 76"/>
          <p:cNvSpPr txBox="1"/>
          <p:nvPr/>
        </p:nvSpPr>
        <p:spPr>
          <a:xfrm>
            <a:off x="2613980" y="2583270"/>
            <a:ext cx="66101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x )</a:t>
            </a:r>
          </a:p>
        </p:txBody>
      </p:sp>
      <p:sp>
        <p:nvSpPr>
          <p:cNvPr id="856" name="TextBox 77"/>
          <p:cNvSpPr txBox="1"/>
          <p:nvPr/>
        </p:nvSpPr>
        <p:spPr>
          <a:xfrm>
            <a:off x="5737256" y="2579563"/>
            <a:ext cx="715874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y )</a:t>
            </a:r>
          </a:p>
        </p:txBody>
      </p:sp>
      <p:sp>
        <p:nvSpPr>
          <p:cNvPr id="857" name="TextBox 78"/>
          <p:cNvSpPr txBox="1"/>
          <p:nvPr/>
        </p:nvSpPr>
        <p:spPr>
          <a:xfrm>
            <a:off x="4180966" y="2608384"/>
            <a:ext cx="68387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pPr/>
            <a:r>
              <a:t>( z )</a:t>
            </a:r>
          </a:p>
        </p:txBody>
      </p:sp>
      <p:sp>
        <p:nvSpPr>
          <p:cNvPr id="858" name="TextBox 80"/>
          <p:cNvSpPr txBox="1"/>
          <p:nvPr/>
        </p:nvSpPr>
        <p:spPr>
          <a:xfrm>
            <a:off x="970646" y="3810374"/>
            <a:ext cx="2272793" cy="199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Y f(X x) {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var z = f1(x);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var y = f2(z);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return y;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}</a:t>
            </a:r>
          </a:p>
        </p:txBody>
      </p:sp>
      <p:sp>
        <p:nvSpPr>
          <p:cNvPr id="859" name="TextBox 81"/>
          <p:cNvSpPr txBox="1"/>
          <p:nvPr/>
        </p:nvSpPr>
        <p:spPr>
          <a:xfrm>
            <a:off x="3579765" y="3806716"/>
            <a:ext cx="1748842" cy="199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Z f1(X x) {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var z = </a:t>
            </a:r>
            <a:r>
              <a:t>….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return z;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}</a:t>
            </a:r>
          </a:p>
        </p:txBody>
      </p:sp>
      <p:sp>
        <p:nvSpPr>
          <p:cNvPr id="860" name="TextBox 82"/>
          <p:cNvSpPr txBox="1"/>
          <p:nvPr/>
        </p:nvSpPr>
        <p:spPr>
          <a:xfrm>
            <a:off x="6050787" y="3806716"/>
            <a:ext cx="1700074" cy="199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Y f2(Z z) {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var y = </a:t>
            </a:r>
            <a:r>
              <a:t>…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return y;</a:t>
            </a:r>
          </a:p>
          <a:p>
            <a:pPr>
              <a:defRPr sz="2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}</a:t>
            </a:r>
          </a:p>
        </p:txBody>
      </p:sp>
      <p:sp>
        <p:nvSpPr>
          <p:cNvPr id="861" name="TextBox 1"/>
          <p:cNvSpPr txBox="1"/>
          <p:nvPr/>
        </p:nvSpPr>
        <p:spPr>
          <a:xfrm>
            <a:off x="970645" y="5752498"/>
            <a:ext cx="2069144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8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Integration</a:t>
            </a:r>
          </a:p>
        </p:txBody>
      </p:sp>
      <p:sp>
        <p:nvSpPr>
          <p:cNvPr id="862" name="TextBox 25"/>
          <p:cNvSpPr txBox="1"/>
          <p:nvPr/>
        </p:nvSpPr>
        <p:spPr>
          <a:xfrm>
            <a:off x="3579765" y="5752498"/>
            <a:ext cx="1848978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8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Operation</a:t>
            </a:r>
          </a:p>
        </p:txBody>
      </p:sp>
      <p:sp>
        <p:nvSpPr>
          <p:cNvPr id="863" name="TextBox 26"/>
          <p:cNvSpPr txBox="1"/>
          <p:nvPr/>
        </p:nvSpPr>
        <p:spPr>
          <a:xfrm>
            <a:off x="6161821" y="5735901"/>
            <a:ext cx="1848978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008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Operation</a:t>
            </a:r>
          </a:p>
        </p:txBody>
      </p:sp>
      <p:sp>
        <p:nvSpPr>
          <p:cNvPr id="864" name="TextBox 27"/>
          <p:cNvSpPr txBox="1"/>
          <p:nvPr/>
        </p:nvSpPr>
        <p:spPr>
          <a:xfrm>
            <a:off x="1548576" y="345143"/>
            <a:ext cx="6046848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solidFill>
                  <a:srgbClr val="008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Ohne</a:t>
            </a:r>
            <a:r>
              <a:rPr>
                <a:solidFill>
                  <a:srgbClr val="000000"/>
                </a:solidFill>
              </a:rPr>
              <a:t> Abhängigkeiten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53317"/>
            <a:ext cx="9144000" cy="204155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8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3802867"/>
            <a:ext cx="9144000" cy="103517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9" name="Picture 1" descr="Pictur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9600" y="270836"/>
            <a:ext cx="7912100" cy="711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1" name="Datenfluss.png" descr="Datenflu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89293" y="1373006"/>
            <a:ext cx="2565415" cy="5366873"/>
          </a:xfrm>
          <a:prstGeom prst="rect">
            <a:avLst/>
          </a:prstGeom>
          <a:ln w="12700">
            <a:miter lim="400000"/>
          </a:ln>
        </p:spPr>
      </p:pic>
      <p:sp>
        <p:nvSpPr>
          <p:cNvPr id="872" name="TextBox 27"/>
          <p:cNvSpPr txBox="1"/>
          <p:nvPr/>
        </p:nvSpPr>
        <p:spPr>
          <a:xfrm>
            <a:off x="1587458" y="345143"/>
            <a:ext cx="5969085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Typischer Datenfluss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TextBox 27"/>
          <p:cNvSpPr txBox="1"/>
          <p:nvPr/>
        </p:nvSpPr>
        <p:spPr>
          <a:xfrm>
            <a:off x="1056761" y="345143"/>
            <a:ext cx="7030478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4400">
                <a:solidFill>
                  <a:srgbClr val="EB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Typische Abhängigkeiten</a:t>
            </a:r>
          </a:p>
        </p:txBody>
      </p:sp>
      <p:pic>
        <p:nvPicPr>
          <p:cNvPr id="875" name="Abhängigkeiten falsch.png" descr="Abhängigkeiten falsch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52672" y="1321630"/>
            <a:ext cx="2238655" cy="5049987"/>
          </a:xfrm>
          <a:prstGeom prst="rect">
            <a:avLst/>
          </a:prstGeom>
          <a:ln w="12700">
            <a:miter lim="400000"/>
          </a:ln>
        </p:spPr>
      </p:pic>
      <p:sp>
        <p:nvSpPr>
          <p:cNvPr id="876" name="TextBox 27"/>
          <p:cNvSpPr txBox="1"/>
          <p:nvPr/>
        </p:nvSpPr>
        <p:spPr>
          <a:xfrm>
            <a:off x="1059808" y="1507443"/>
            <a:ext cx="2345071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Desktop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Abhängigkeiten Web falsch.png" descr="Abhängigkeiten Web falsch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13820" y="1257671"/>
            <a:ext cx="1916360" cy="5384931"/>
          </a:xfrm>
          <a:prstGeom prst="rect">
            <a:avLst/>
          </a:prstGeom>
          <a:ln w="12700">
            <a:miter lim="400000"/>
          </a:ln>
        </p:spPr>
      </p:pic>
      <p:sp>
        <p:nvSpPr>
          <p:cNvPr id="879" name="TextBox 27"/>
          <p:cNvSpPr txBox="1"/>
          <p:nvPr/>
        </p:nvSpPr>
        <p:spPr>
          <a:xfrm>
            <a:off x="1089360" y="1451857"/>
            <a:ext cx="1354892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880" name="TextBox 27"/>
          <p:cNvSpPr txBox="1"/>
          <p:nvPr/>
        </p:nvSpPr>
        <p:spPr>
          <a:xfrm>
            <a:off x="1056761" y="345143"/>
            <a:ext cx="7030478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4400">
                <a:solidFill>
                  <a:srgbClr val="EB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Typische Abhängigkeiten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TextBox 27"/>
          <p:cNvSpPr txBox="1"/>
          <p:nvPr/>
        </p:nvSpPr>
        <p:spPr>
          <a:xfrm>
            <a:off x="1056625" y="345143"/>
            <a:ext cx="7030751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4400">
                <a:solidFill>
                  <a:srgbClr val="00B4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Korrekte Abhängigkeiten</a:t>
            </a:r>
          </a:p>
        </p:txBody>
      </p:sp>
      <p:sp>
        <p:nvSpPr>
          <p:cNvPr id="883" name="TextBox 27"/>
          <p:cNvSpPr txBox="1"/>
          <p:nvPr/>
        </p:nvSpPr>
        <p:spPr>
          <a:xfrm>
            <a:off x="1059808" y="1507443"/>
            <a:ext cx="2345071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Desktop</a:t>
            </a:r>
          </a:p>
        </p:txBody>
      </p:sp>
      <p:pic>
        <p:nvPicPr>
          <p:cNvPr id="884" name="Abhängigkeiten Desktop.png" descr="Abhängigkeiten Desktop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01252" y="1734422"/>
            <a:ext cx="5357793" cy="47761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TextBox 27"/>
          <p:cNvSpPr txBox="1"/>
          <p:nvPr/>
        </p:nvSpPr>
        <p:spPr>
          <a:xfrm>
            <a:off x="1089360" y="1451857"/>
            <a:ext cx="1354892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887" name="TextBox 27"/>
          <p:cNvSpPr txBox="1"/>
          <p:nvPr/>
        </p:nvSpPr>
        <p:spPr>
          <a:xfrm>
            <a:off x="1056625" y="345143"/>
            <a:ext cx="7030751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4400">
                <a:solidFill>
                  <a:srgbClr val="00B400"/>
                </a:solidFill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Korrekte Abhängigkeiten</a:t>
            </a:r>
          </a:p>
        </p:txBody>
      </p:sp>
      <p:pic>
        <p:nvPicPr>
          <p:cNvPr id="888" name="Abhängigkeiten Web.png" descr="Abhängigkeiten We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60633" y="1340603"/>
            <a:ext cx="3276948" cy="50449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1315" y="1420013"/>
            <a:ext cx="4448687" cy="4405704"/>
          </a:xfrm>
          <a:prstGeom prst="rect">
            <a:avLst/>
          </a:prstGeom>
          <a:ln w="12700">
            <a:miter lim="400000"/>
          </a:ln>
        </p:spPr>
      </p:pic>
      <p:sp>
        <p:nvSpPr>
          <p:cNvPr id="891" name="TextBox 4"/>
          <p:cNvSpPr txBox="1"/>
          <p:nvPr/>
        </p:nvSpPr>
        <p:spPr>
          <a:xfrm>
            <a:off x="377036" y="345143"/>
            <a:ext cx="4527338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4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Projektstruktur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1315" y="1420013"/>
            <a:ext cx="4448687" cy="4405704"/>
          </a:xfrm>
          <a:prstGeom prst="rect">
            <a:avLst/>
          </a:prstGeom>
          <a:ln w="12700">
            <a:miter lim="400000"/>
          </a:ln>
        </p:spPr>
      </p:pic>
      <p:sp>
        <p:nvSpPr>
          <p:cNvPr id="894" name="TextBox 4"/>
          <p:cNvSpPr txBox="1"/>
          <p:nvPr/>
        </p:nvSpPr>
        <p:spPr>
          <a:xfrm>
            <a:off x="377036" y="345143"/>
            <a:ext cx="4527338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4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Projektstruktur</a:t>
            </a:r>
          </a:p>
        </p:txBody>
      </p:sp>
      <p:sp>
        <p:nvSpPr>
          <p:cNvPr id="895" name="Rectangle 1"/>
          <p:cNvSpPr/>
          <p:nvPr/>
        </p:nvSpPr>
        <p:spPr>
          <a:xfrm>
            <a:off x="262292" y="1932802"/>
            <a:ext cx="4666046" cy="427979"/>
          </a:xfrm>
          <a:prstGeom prst="rect">
            <a:avLst/>
          </a:prstGeom>
          <a:ln w="76200"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6" name="TextBox 2"/>
          <p:cNvSpPr txBox="1"/>
          <p:nvPr/>
        </p:nvSpPr>
        <p:spPr>
          <a:xfrm>
            <a:off x="4974058" y="1397156"/>
            <a:ext cx="4039210" cy="542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Application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Integration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.exe Projekt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maximale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Abhängigkeiten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Referenziert alle anderen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Projekte. Startet die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Anwendung in der Main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Methode.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1315" y="1420013"/>
            <a:ext cx="4448687" cy="4405704"/>
          </a:xfrm>
          <a:prstGeom prst="rect">
            <a:avLst/>
          </a:prstGeom>
          <a:ln w="12700">
            <a:miter lim="400000"/>
          </a:ln>
        </p:spPr>
      </p:pic>
      <p:sp>
        <p:nvSpPr>
          <p:cNvPr id="899" name="TextBox 4"/>
          <p:cNvSpPr txBox="1"/>
          <p:nvPr/>
        </p:nvSpPr>
        <p:spPr>
          <a:xfrm>
            <a:off x="377036" y="345143"/>
            <a:ext cx="4527338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4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Projektstruktur</a:t>
            </a:r>
          </a:p>
        </p:txBody>
      </p:sp>
      <p:sp>
        <p:nvSpPr>
          <p:cNvPr id="900" name="Rectangle 1"/>
          <p:cNvSpPr/>
          <p:nvPr/>
        </p:nvSpPr>
        <p:spPr>
          <a:xfrm>
            <a:off x="262292" y="2333169"/>
            <a:ext cx="4666046" cy="427979"/>
          </a:xfrm>
          <a:prstGeom prst="rect">
            <a:avLst/>
          </a:prstGeom>
          <a:ln w="76200"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1" name="TextBox 2"/>
          <p:cNvSpPr txBox="1"/>
          <p:nvPr/>
        </p:nvSpPr>
        <p:spPr>
          <a:xfrm>
            <a:off x="4974058" y="1397156"/>
            <a:ext cx="3884524" cy="275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Kontrakte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Interfaces, Datentypen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.dll Projekt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keine Abhängigkeiten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1315" y="1420013"/>
            <a:ext cx="4448687" cy="4405704"/>
          </a:xfrm>
          <a:prstGeom prst="rect">
            <a:avLst/>
          </a:prstGeom>
          <a:ln w="12700">
            <a:miter lim="400000"/>
          </a:ln>
        </p:spPr>
      </p:pic>
      <p:sp>
        <p:nvSpPr>
          <p:cNvPr id="904" name="TextBox 4"/>
          <p:cNvSpPr txBox="1"/>
          <p:nvPr/>
        </p:nvSpPr>
        <p:spPr>
          <a:xfrm>
            <a:off x="377036" y="345143"/>
            <a:ext cx="4527338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4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Projektstruktur</a:t>
            </a:r>
          </a:p>
        </p:txBody>
      </p:sp>
      <p:sp>
        <p:nvSpPr>
          <p:cNvPr id="905" name="Rectangle 1"/>
          <p:cNvSpPr/>
          <p:nvPr/>
        </p:nvSpPr>
        <p:spPr>
          <a:xfrm>
            <a:off x="248487" y="2702224"/>
            <a:ext cx="4666046" cy="2792460"/>
          </a:xfrm>
          <a:prstGeom prst="rect">
            <a:avLst/>
          </a:prstGeom>
          <a:ln w="76200"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6" name="TextBox 2"/>
          <p:cNvSpPr txBox="1"/>
          <p:nvPr/>
        </p:nvSpPr>
        <p:spPr>
          <a:xfrm>
            <a:off x="4974058" y="1397156"/>
            <a:ext cx="4008629" cy="498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Komponenten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Logik, UI, Ressourcen,</a:t>
            </a:r>
            <a:br/>
            <a:r>
              <a:t>   etc.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 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.dll Projekte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Keine Abhängigkeiten,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  referenziert lediglich</a:t>
            </a:r>
            <a:br/>
            <a:r>
              <a:t>     die Kontrakte.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  Tests referenzieren</a:t>
            </a:r>
          </a:p>
          <a:p>
            <a:pPr>
              <a:defRPr sz="2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     zugehörige Impl.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0" name="Oval 6"/>
          <p:cNvGrpSpPr/>
          <p:nvPr/>
        </p:nvGrpSpPr>
        <p:grpSpPr>
          <a:xfrm>
            <a:off x="2990644" y="4054047"/>
            <a:ext cx="3511450" cy="833191"/>
            <a:chOff x="0" y="0"/>
            <a:chExt cx="3511448" cy="833189"/>
          </a:xfrm>
        </p:grpSpPr>
        <p:sp>
          <p:nvSpPr>
            <p:cNvPr id="908" name="Oval"/>
            <p:cNvSpPr/>
            <p:nvPr/>
          </p:nvSpPr>
          <p:spPr>
            <a:xfrm>
              <a:off x="-1" y="0"/>
              <a:ext cx="3511450" cy="833190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909" name="crm.contracts"/>
            <p:cNvSpPr txBox="1"/>
            <p:nvPr/>
          </p:nvSpPr>
          <p:spPr>
            <a:xfrm>
              <a:off x="559960" y="148625"/>
              <a:ext cx="2391529" cy="535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crm.contracts</a:t>
              </a:r>
            </a:p>
          </p:txBody>
        </p:sp>
      </p:grpSp>
      <p:sp>
        <p:nvSpPr>
          <p:cNvPr id="931" name="Straight Arrow Connector 7"/>
          <p:cNvSpPr/>
          <p:nvPr/>
        </p:nvSpPr>
        <p:spPr>
          <a:xfrm>
            <a:off x="2236198" y="3170849"/>
            <a:ext cx="1770990" cy="9170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932" name="Straight Arrow Connector 8"/>
          <p:cNvSpPr/>
          <p:nvPr/>
        </p:nvSpPr>
        <p:spPr>
          <a:xfrm>
            <a:off x="4746368" y="3234140"/>
            <a:ext cx="1" cy="8151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grpSp>
        <p:nvGrpSpPr>
          <p:cNvPr id="915" name="Oval 10"/>
          <p:cNvGrpSpPr/>
          <p:nvPr/>
        </p:nvGrpSpPr>
        <p:grpSpPr>
          <a:xfrm>
            <a:off x="4069865" y="911175"/>
            <a:ext cx="1355451" cy="712195"/>
            <a:chOff x="0" y="0"/>
            <a:chExt cx="1355450" cy="712194"/>
          </a:xfrm>
        </p:grpSpPr>
        <p:sp>
          <p:nvSpPr>
            <p:cNvPr id="913" name="Oval"/>
            <p:cNvSpPr/>
            <p:nvPr/>
          </p:nvSpPr>
          <p:spPr>
            <a:xfrm>
              <a:off x="-1" y="-1"/>
              <a:ext cx="1355452" cy="712196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914" name="crm"/>
            <p:cNvSpPr txBox="1"/>
            <p:nvPr/>
          </p:nvSpPr>
          <p:spPr>
            <a:xfrm>
              <a:off x="244220" y="88126"/>
              <a:ext cx="867009" cy="535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crm</a:t>
              </a:r>
            </a:p>
          </p:txBody>
        </p:sp>
      </p:grpSp>
      <p:grpSp>
        <p:nvGrpSpPr>
          <p:cNvPr id="918" name="Oval 12"/>
          <p:cNvGrpSpPr/>
          <p:nvPr/>
        </p:nvGrpSpPr>
        <p:grpSpPr>
          <a:xfrm>
            <a:off x="2921619" y="2304262"/>
            <a:ext cx="3649500" cy="924985"/>
            <a:chOff x="0" y="0"/>
            <a:chExt cx="3649498" cy="924984"/>
          </a:xfrm>
        </p:grpSpPr>
        <p:sp>
          <p:nvSpPr>
            <p:cNvPr id="916" name="Oval"/>
            <p:cNvSpPr/>
            <p:nvPr/>
          </p:nvSpPr>
          <p:spPr>
            <a:xfrm>
              <a:off x="-1" y="-1"/>
              <a:ext cx="3649500" cy="924986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917" name="crm.persistence"/>
            <p:cNvSpPr txBox="1"/>
            <p:nvPr/>
          </p:nvSpPr>
          <p:spPr>
            <a:xfrm>
              <a:off x="580177" y="194521"/>
              <a:ext cx="2489145" cy="535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crm.persistence</a:t>
              </a:r>
            </a:p>
          </p:txBody>
        </p:sp>
      </p:grpSp>
      <p:grpSp>
        <p:nvGrpSpPr>
          <p:cNvPr id="921" name="Oval 13"/>
          <p:cNvGrpSpPr/>
          <p:nvPr/>
        </p:nvGrpSpPr>
        <p:grpSpPr>
          <a:xfrm>
            <a:off x="303707" y="2333169"/>
            <a:ext cx="2415852" cy="924986"/>
            <a:chOff x="0" y="0"/>
            <a:chExt cx="2415851" cy="924984"/>
          </a:xfrm>
        </p:grpSpPr>
        <p:sp>
          <p:nvSpPr>
            <p:cNvPr id="919" name="Oval"/>
            <p:cNvSpPr/>
            <p:nvPr/>
          </p:nvSpPr>
          <p:spPr>
            <a:xfrm>
              <a:off x="0" y="-1"/>
              <a:ext cx="2415852" cy="924986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920" name="crm.logic"/>
            <p:cNvSpPr txBox="1"/>
            <p:nvPr/>
          </p:nvSpPr>
          <p:spPr>
            <a:xfrm>
              <a:off x="399512" y="194522"/>
              <a:ext cx="1616827" cy="535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crm.logic</a:t>
              </a:r>
            </a:p>
          </p:txBody>
        </p:sp>
      </p:grpSp>
      <p:sp>
        <p:nvSpPr>
          <p:cNvPr id="933" name="Straight Arrow Connector 14"/>
          <p:cNvSpPr/>
          <p:nvPr/>
        </p:nvSpPr>
        <p:spPr>
          <a:xfrm>
            <a:off x="2278797" y="1507701"/>
            <a:ext cx="1959750" cy="9256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934" name="Straight Arrow Connector 15"/>
          <p:cNvSpPr/>
          <p:nvPr/>
        </p:nvSpPr>
        <p:spPr>
          <a:xfrm>
            <a:off x="4746749" y="1628329"/>
            <a:ext cx="548" cy="671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935" name="Straight Arrow Connector 41"/>
          <p:cNvSpPr/>
          <p:nvPr/>
        </p:nvSpPr>
        <p:spPr>
          <a:xfrm>
            <a:off x="5435404" y="3115588"/>
            <a:ext cx="1717001" cy="966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head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grpSp>
        <p:nvGrpSpPr>
          <p:cNvPr id="927" name="Oval 42"/>
          <p:cNvGrpSpPr/>
          <p:nvPr/>
        </p:nvGrpSpPr>
        <p:grpSpPr>
          <a:xfrm>
            <a:off x="6778190" y="2400900"/>
            <a:ext cx="1884551" cy="789523"/>
            <a:chOff x="0" y="0"/>
            <a:chExt cx="1884550" cy="789522"/>
          </a:xfrm>
        </p:grpSpPr>
        <p:sp>
          <p:nvSpPr>
            <p:cNvPr id="925" name="Oval"/>
            <p:cNvSpPr/>
            <p:nvPr/>
          </p:nvSpPr>
          <p:spPr>
            <a:xfrm>
              <a:off x="-1" y="-1"/>
              <a:ext cx="1884552" cy="789524"/>
            </a:xfrm>
            <a:prstGeom prst="ellipse">
              <a:avLst/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8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pPr>
            </a:p>
          </p:txBody>
        </p:sp>
        <p:sp>
          <p:nvSpPr>
            <p:cNvPr id="926" name="crm.ui"/>
            <p:cNvSpPr txBox="1"/>
            <p:nvPr/>
          </p:nvSpPr>
          <p:spPr>
            <a:xfrm>
              <a:off x="321705" y="126791"/>
              <a:ext cx="1241140" cy="535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  <a:latin typeface="Bradley Hand ITC TT-Bold"/>
                  <a:ea typeface="Bradley Hand ITC TT-Bold"/>
                  <a:cs typeface="Bradley Hand ITC TT-Bold"/>
                  <a:sym typeface="Bradley Hand ITC TT-Bold"/>
                </a:defRPr>
              </a:lvl1pPr>
            </a:lstStyle>
            <a:p>
              <a:pPr/>
              <a:r>
                <a:t>crm.ui</a:t>
              </a:r>
            </a:p>
          </p:txBody>
        </p:sp>
      </p:grpSp>
      <p:sp>
        <p:nvSpPr>
          <p:cNvPr id="936" name="Straight Arrow Connector 43"/>
          <p:cNvSpPr/>
          <p:nvPr/>
        </p:nvSpPr>
        <p:spPr>
          <a:xfrm>
            <a:off x="5237067" y="1518919"/>
            <a:ext cx="1882174" cy="9676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929" name="Straight Connector 86"/>
          <p:cNvSpPr/>
          <p:nvPr/>
        </p:nvSpPr>
        <p:spPr>
          <a:xfrm>
            <a:off x="303707" y="1996126"/>
            <a:ext cx="8359034" cy="1"/>
          </a:xfrm>
          <a:prstGeom prst="line">
            <a:avLst/>
          </a:prstGeom>
          <a:ln w="25400">
            <a:solidFill>
              <a:srgbClr val="FF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0" name="Straight Connector 87"/>
          <p:cNvSpPr/>
          <p:nvPr/>
        </p:nvSpPr>
        <p:spPr>
          <a:xfrm>
            <a:off x="303707" y="3556715"/>
            <a:ext cx="8359034" cy="1"/>
          </a:xfrm>
          <a:prstGeom prst="line">
            <a:avLst/>
          </a:prstGeom>
          <a:ln w="25400">
            <a:solidFill>
              <a:srgbClr val="FF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84539" y="855955"/>
            <a:ext cx="5574922" cy="37436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9900" y="115940"/>
            <a:ext cx="8204200" cy="6337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200" y="1651000"/>
            <a:ext cx="8737600" cy="3543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1900" y="1103097"/>
            <a:ext cx="6667500" cy="1752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Oval 3"/>
          <p:cNvSpPr/>
          <p:nvPr/>
        </p:nvSpPr>
        <p:spPr>
          <a:xfrm>
            <a:off x="4303534" y="647740"/>
            <a:ext cx="517366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7" name="Oval 4"/>
          <p:cNvSpPr/>
          <p:nvPr/>
        </p:nvSpPr>
        <p:spPr>
          <a:xfrm>
            <a:off x="5549982" y="1806137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8" name="Oval 5"/>
          <p:cNvSpPr/>
          <p:nvPr/>
        </p:nvSpPr>
        <p:spPr>
          <a:xfrm>
            <a:off x="4303534" y="1806137"/>
            <a:ext cx="517366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Oval 6"/>
          <p:cNvSpPr/>
          <p:nvPr/>
        </p:nvSpPr>
        <p:spPr>
          <a:xfrm>
            <a:off x="3028428" y="1806137"/>
            <a:ext cx="517365" cy="50175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cxnSp>
        <p:nvCxnSpPr>
          <p:cNvPr id="950" name="Straight Arrow Connector 7"/>
          <p:cNvCxnSpPr>
            <a:stCxn id="946" idx="0"/>
            <a:endCxn id="949" idx="0"/>
          </p:cNvCxnSpPr>
          <p:nvPr/>
        </p:nvCxnSpPr>
        <p:spPr>
          <a:xfrm flipH="1">
            <a:off x="3287110" y="898619"/>
            <a:ext cx="1275107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951" name="Straight Arrow Connector 8"/>
          <p:cNvCxnSpPr>
            <a:stCxn id="946" idx="0"/>
            <a:endCxn id="948" idx="0"/>
          </p:cNvCxnSpPr>
          <p:nvPr/>
        </p:nvCxnSpPr>
        <p:spPr>
          <a:xfrm>
            <a:off x="4562216" y="898619"/>
            <a:ext cx="1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cxnSp>
        <p:nvCxnSpPr>
          <p:cNvPr id="952" name="Straight Arrow Connector 9"/>
          <p:cNvCxnSpPr>
            <a:stCxn id="946" idx="0"/>
            <a:endCxn id="947" idx="0"/>
          </p:cNvCxnSpPr>
          <p:nvPr/>
        </p:nvCxnSpPr>
        <p:spPr>
          <a:xfrm>
            <a:off x="4562216" y="898619"/>
            <a:ext cx="1246449" cy="1158398"/>
          </a:xfrm>
          <a:prstGeom prst="straightConnector1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953" name="TextBox 10"/>
          <p:cNvSpPr txBox="1"/>
          <p:nvPr/>
        </p:nvSpPr>
        <p:spPr>
          <a:xfrm>
            <a:off x="581863" y="2780684"/>
            <a:ext cx="7980275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I</a:t>
            </a:r>
            <a:r>
              <a:rPr>
                <a:solidFill>
                  <a:srgbClr val="000000"/>
                </a:solidFill>
              </a:rPr>
              <a:t>ntegration </a:t>
            </a:r>
            <a:r>
              <a:t>O</a:t>
            </a:r>
            <a:r>
              <a:rPr>
                <a:solidFill>
                  <a:srgbClr val="000000"/>
                </a:solidFill>
              </a:rPr>
              <a:t>peration</a:t>
            </a:r>
            <a:endParaRPr>
              <a:solidFill>
                <a:srgbClr val="000000"/>
              </a:solidFill>
            </a:endParaRPr>
          </a:p>
          <a:p>
            <a:pPr algn="ctr">
              <a:defRPr sz="44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S</a:t>
            </a:r>
            <a:r>
              <a:rPr>
                <a:solidFill>
                  <a:srgbClr val="000000"/>
                </a:solidFill>
              </a:rPr>
              <a:t>egregation </a:t>
            </a:r>
            <a:r>
              <a:t>P</a:t>
            </a:r>
            <a:r>
              <a:rPr>
                <a:solidFill>
                  <a:srgbClr val="000000"/>
                </a:solidFill>
              </a:rPr>
              <a:t>rinciple (</a:t>
            </a:r>
            <a:r>
              <a:t>IOSP</a:t>
            </a:r>
            <a:r>
              <a:rPr>
                <a:solidFill>
                  <a:srgbClr val="000000"/>
                </a:solidFill>
              </a:rP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Oval 3"/>
          <p:cNvSpPr/>
          <p:nvPr/>
        </p:nvSpPr>
        <p:spPr>
          <a:xfrm>
            <a:off x="5340879" y="2590261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6" name="Oval 4"/>
          <p:cNvSpPr/>
          <p:nvPr/>
        </p:nvSpPr>
        <p:spPr>
          <a:xfrm>
            <a:off x="3293752" y="2590261"/>
            <a:ext cx="517365" cy="501759"/>
          </a:xfrm>
          <a:prstGeom prst="ellipse">
            <a:avLst/>
          </a:prstGeom>
          <a:gradFill>
            <a:gsLst>
              <a:gs pos="0">
                <a:srgbClr val="3F80CE"/>
              </a:gs>
              <a:gs pos="100000">
                <a:schemeClr val="accent1">
                  <a:hueOff val="357503"/>
                  <a:satOff val="54545"/>
                  <a:lumOff val="2927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7" name="Straight Arrow Connector 5"/>
          <p:cNvSpPr/>
          <p:nvPr/>
        </p:nvSpPr>
        <p:spPr>
          <a:xfrm flipH="1">
            <a:off x="4130260" y="2742124"/>
            <a:ext cx="1060372" cy="1"/>
          </a:xfrm>
          <a:prstGeom prst="line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8" name="Straight Arrow Connector 8"/>
          <p:cNvSpPr/>
          <p:nvPr/>
        </p:nvSpPr>
        <p:spPr>
          <a:xfrm>
            <a:off x="4058632" y="2953958"/>
            <a:ext cx="1060372" cy="1"/>
          </a:xfrm>
          <a:prstGeom prst="line">
            <a:avLst/>
          </a:prstGeom>
          <a:ln w="25400">
            <a:solidFill>
              <a:srgbClr val="000000"/>
            </a:solidFill>
            <a:tailEnd type="oval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9" name="Lightning Bolt 12"/>
          <p:cNvSpPr/>
          <p:nvPr/>
        </p:nvSpPr>
        <p:spPr>
          <a:xfrm>
            <a:off x="4197653" y="2362467"/>
            <a:ext cx="717854" cy="8421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472" y="0"/>
                </a:moveTo>
                <a:lnTo>
                  <a:pt x="12860" y="6080"/>
                </a:lnTo>
                <a:lnTo>
                  <a:pt x="11050" y="6797"/>
                </a:lnTo>
                <a:lnTo>
                  <a:pt x="16577" y="12007"/>
                </a:lnTo>
                <a:lnTo>
                  <a:pt x="14767" y="12877"/>
                </a:lnTo>
                <a:lnTo>
                  <a:pt x="21600" y="21600"/>
                </a:lnTo>
                <a:lnTo>
                  <a:pt x="10012" y="14915"/>
                </a:lnTo>
                <a:lnTo>
                  <a:pt x="12222" y="13987"/>
                </a:lnTo>
                <a:lnTo>
                  <a:pt x="5022" y="9705"/>
                </a:lnTo>
                <a:lnTo>
                  <a:pt x="7602" y="8382"/>
                </a:lnTo>
                <a:lnTo>
                  <a:pt x="0" y="389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0" name="TextBox 13"/>
          <p:cNvSpPr txBox="1"/>
          <p:nvPr/>
        </p:nvSpPr>
        <p:spPr>
          <a:xfrm>
            <a:off x="1860991" y="345143"/>
            <a:ext cx="5422018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P</a:t>
            </a:r>
            <a:r>
              <a:rPr>
                <a:solidFill>
                  <a:srgbClr val="000000"/>
                </a:solidFill>
              </a:rPr>
              <a:t>rinciple </a:t>
            </a:r>
            <a:r>
              <a:t>o</a:t>
            </a:r>
            <a:r>
              <a:rPr>
                <a:solidFill>
                  <a:srgbClr val="000000"/>
                </a:solidFill>
              </a:rPr>
              <a:t>f </a:t>
            </a:r>
            <a:r>
              <a:t>M</a:t>
            </a:r>
            <a:r>
              <a:rPr>
                <a:solidFill>
                  <a:srgbClr val="000000"/>
                </a:solidFill>
              </a:rPr>
              <a:t>utual</a:t>
            </a:r>
            <a:endParaRPr>
              <a:solidFill>
                <a:srgbClr val="000000"/>
              </a:solidFill>
            </a:endParaRPr>
          </a:p>
          <a:p>
            <a:pPr algn="ctr">
              <a:defRPr sz="4400">
                <a:solidFill>
                  <a:srgbClr val="FF0000"/>
                </a:solidFill>
                <a:latin typeface="FFF Tusj Bold"/>
                <a:ea typeface="FFF Tusj Bold"/>
                <a:cs typeface="FFF Tusj Bold"/>
                <a:sym typeface="FFF Tusj Bold"/>
              </a:defRPr>
            </a:pPr>
            <a:r>
              <a:t>O</a:t>
            </a:r>
            <a:r>
              <a:rPr>
                <a:solidFill>
                  <a:srgbClr val="000000"/>
                </a:solidFill>
              </a:rPr>
              <a:t>blivion (</a:t>
            </a:r>
            <a:r>
              <a:t>PoMO</a:t>
            </a:r>
            <a:r>
              <a:rPr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961" name="Rectangle 14"/>
          <p:cNvSpPr txBox="1"/>
          <p:nvPr/>
        </p:nvSpPr>
        <p:spPr>
          <a:xfrm>
            <a:off x="2562454" y="3713729"/>
            <a:ext cx="4019093" cy="218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4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Prinzip der</a:t>
            </a:r>
          </a:p>
          <a:p>
            <a:pPr algn="ctr">
              <a:defRPr sz="4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gegenseitigen</a:t>
            </a:r>
          </a:p>
          <a:p>
            <a:pPr algn="ctr">
              <a:defRPr sz="44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pPr>
            <a:r>
              <a:t>Nichtbeachtung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Quellcode Beispie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Quellcode Beispiele</a:t>
            </a:r>
          </a:p>
        </p:txBody>
      </p:sp>
      <p:sp>
        <p:nvSpPr>
          <p:cNvPr id="964" name="https://github.com/slieser/flowdesignbuch"/>
          <p:cNvSpPr txBox="1"/>
          <p:nvPr/>
        </p:nvSpPr>
        <p:spPr>
          <a:xfrm>
            <a:off x="2525149" y="2124899"/>
            <a:ext cx="409370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https://github.com/slieser/flowdesignbuch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30.06.2020 - 18:00…"/>
          <p:cNvSpPr txBox="1"/>
          <p:nvPr/>
        </p:nvSpPr>
        <p:spPr>
          <a:xfrm>
            <a:off x="418691" y="1818147"/>
            <a:ext cx="8306617" cy="222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300" u="sng">
                <a:solidFill>
                  <a:srgbClr val="0000EE"/>
                </a:solidFill>
                <a:uFill>
                  <a:solidFill>
                    <a:srgbClr val="0000EE"/>
                  </a:solidFill>
                </a:uFill>
              </a:defRPr>
            </a:pPr>
            <a:r>
              <a:rPr u="none">
                <a:solidFill>
                  <a:srgbClr val="000000"/>
                </a:solidFill>
              </a:rPr>
              <a:t>30.06.2020 - 18:00</a:t>
            </a:r>
            <a:endParaRPr u="none">
              <a:solidFill>
                <a:srgbClr val="000000"/>
              </a:solidFill>
            </a:endParaRPr>
          </a:p>
          <a:p>
            <a:pPr algn="ctr">
              <a:defRPr sz="2300" u="sng">
                <a:solidFill>
                  <a:srgbClr val="0000EE"/>
                </a:solidFill>
                <a:uFill>
                  <a:solidFill>
                    <a:srgbClr val="0000EE"/>
                  </a:solidFill>
                </a:uFill>
              </a:defRPr>
            </a:pPr>
            <a:endParaRPr u="none">
              <a:solidFill>
                <a:srgbClr val="000000"/>
              </a:solidFill>
            </a:endParaRPr>
          </a:p>
          <a:p>
            <a:pPr algn="ctr">
              <a:defRPr b="1" sz="2300" u="sng">
                <a:solidFill>
                  <a:srgbClr val="0000EE"/>
                </a:solidFill>
                <a:uFill>
                  <a:solidFill>
                    <a:srgbClr val="0000EE"/>
                  </a:solidFill>
                </a:uFill>
              </a:defRPr>
            </a:pPr>
            <a:r>
              <a:rPr u="none">
                <a:solidFill>
                  <a:srgbClr val="000000"/>
                </a:solidFill>
              </a:rPr>
              <a:t>Flow Design am Beispiel</a:t>
            </a:r>
            <a:endParaRPr u="none">
              <a:solidFill>
                <a:srgbClr val="000000"/>
              </a:solidFill>
            </a:endParaRPr>
          </a:p>
          <a:p>
            <a:pPr algn="ctr">
              <a:defRPr sz="2300" u="sng">
                <a:solidFill>
                  <a:srgbClr val="0000EE"/>
                </a:solidFill>
                <a:uFill>
                  <a:solidFill>
                    <a:srgbClr val="0000EE"/>
                  </a:solidFill>
                </a:uFill>
              </a:defRPr>
            </a:pPr>
            <a:endParaRPr u="none">
              <a:solidFill>
                <a:srgbClr val="000000"/>
              </a:solidFill>
            </a:endParaRPr>
          </a:p>
          <a:p>
            <a:pPr algn="ctr">
              <a:defRPr sz="2300" u="sng">
                <a:solidFill>
                  <a:srgbClr val="0000EE"/>
                </a:solidFill>
                <a:uFill>
                  <a:solidFill>
                    <a:srgbClr val="0000EE"/>
                  </a:solidFill>
                </a:uFill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https://stefanlieser.webinarninja.com/live-webinars/365899/register</a:t>
            </a:r>
            <a:r>
              <a:rPr u="none">
                <a:solidFill>
                  <a:srgbClr val="000000"/>
                </a:solidFill>
              </a:rPr>
              <a:t> </a:t>
            </a:r>
            <a:endParaRPr u="none">
              <a:solidFill>
                <a:srgbClr val="000000"/>
              </a:solidFill>
            </a:endParaRPr>
          </a:p>
        </p:txBody>
      </p:sp>
      <p:sp>
        <p:nvSpPr>
          <p:cNvPr id="967" name="TextBox 4"/>
          <p:cNvSpPr txBox="1"/>
          <p:nvPr/>
        </p:nvSpPr>
        <p:spPr>
          <a:xfrm>
            <a:off x="1584047" y="372936"/>
            <a:ext cx="5975906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4400">
                <a:latin typeface="FFF Tusj Bold"/>
                <a:ea typeface="FFF Tusj Bold"/>
                <a:cs typeface="FFF Tusj Bold"/>
                <a:sym typeface="FFF Tusj Bold"/>
              </a:defRPr>
            </a:lvl1pPr>
          </a:lstStyle>
          <a:p>
            <a:pPr/>
            <a:r>
              <a:t>Das nächste Webinar</a:t>
            </a:r>
          </a:p>
        </p:txBody>
      </p:sp>
      <p:pic>
        <p:nvPicPr>
          <p:cNvPr id="968" name="Mit Flow Design zu Clean Code.png" descr="Mit Flow Design zu Clean Cod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499" y="4875420"/>
            <a:ext cx="1024959" cy="1445937"/>
          </a:xfrm>
          <a:prstGeom prst="rect">
            <a:avLst/>
          </a:prstGeom>
          <a:ln w="12700">
            <a:miter lim="400000"/>
          </a:ln>
        </p:spPr>
      </p:pic>
      <p:sp>
        <p:nvSpPr>
          <p:cNvPr id="969" name="https://flow-design.info/buch"/>
          <p:cNvSpPr txBox="1"/>
          <p:nvPr/>
        </p:nvSpPr>
        <p:spPr>
          <a:xfrm>
            <a:off x="1756431" y="4876437"/>
            <a:ext cx="285180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https://flow-design.info/buch</a:t>
            </a:r>
          </a:p>
        </p:txBody>
      </p:sp>
      <p:sp>
        <p:nvSpPr>
          <p:cNvPr id="970" name="Linie"/>
          <p:cNvSpPr/>
          <p:nvPr/>
        </p:nvSpPr>
        <p:spPr>
          <a:xfrm>
            <a:off x="18142" y="4647659"/>
            <a:ext cx="9107715" cy="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Picture 6" descr="Picture 6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14590" y="4134596"/>
            <a:ext cx="897322" cy="897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973" name="Picture 7" descr="Picture 7">
            <a:hlinkClick r:id="rId4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7214" y="5057692"/>
            <a:ext cx="1456103" cy="567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974" name="Picture 9" descr="Picture 9">
            <a:hlinkClick r:id="rId6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40117" y="5927282"/>
            <a:ext cx="2053199" cy="509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975" name="Picture 10" descr="Picture 10">
            <a:hlinkClick r:id="rId8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9">
            <a:extLst/>
          </a:blip>
          <a:srcRect l="0" t="31781" r="0" b="38312"/>
          <a:stretch>
            <a:fillRect/>
          </a:stretch>
        </p:blipFill>
        <p:spPr>
          <a:xfrm>
            <a:off x="486646" y="400374"/>
            <a:ext cx="8170708" cy="2443611"/>
          </a:xfrm>
          <a:prstGeom prst="rect">
            <a:avLst/>
          </a:prstGeom>
          <a:ln w="12700">
            <a:miter lim="400000"/>
          </a:ln>
        </p:spPr>
      </p:pic>
      <p:sp>
        <p:nvSpPr>
          <p:cNvPr id="976" name="Straight Connector 12"/>
          <p:cNvSpPr/>
          <p:nvPr/>
        </p:nvSpPr>
        <p:spPr>
          <a:xfrm>
            <a:off x="0" y="3848973"/>
            <a:ext cx="9144000" cy="41419"/>
          </a:xfrm>
          <a:prstGeom prst="line">
            <a:avLst/>
          </a:pr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7" name="TextBox 15">
            <a:hlinkClick r:id="rId8" invalidUrl="" action="" tgtFrame="" tooltip="" history="1" highlightClick="0" endSnd="0"/>
          </p:cNvPr>
          <p:cNvSpPr txBox="1"/>
          <p:nvPr/>
        </p:nvSpPr>
        <p:spPr>
          <a:xfrm>
            <a:off x="1660419" y="2843984"/>
            <a:ext cx="5740759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/>
            </a:lvl1pPr>
          </a:lstStyle>
          <a:p>
            <a:pPr/>
            <a:r>
              <a:t>http://refactoring-legacy-code.net</a:t>
            </a:r>
          </a:p>
        </p:txBody>
      </p:sp>
      <p:sp>
        <p:nvSpPr>
          <p:cNvPr id="978" name="TextBox 5">
            <a:hlinkClick r:id="rId6" invalidUrl="" action="" tgtFrame="" tooltip="" history="1" highlightClick="0" endSnd="0"/>
          </p:cNvPr>
          <p:cNvSpPr txBox="1"/>
          <p:nvPr/>
        </p:nvSpPr>
        <p:spPr>
          <a:xfrm>
            <a:off x="2911237" y="5921935"/>
            <a:ext cx="493949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pPr/>
            <a:r>
              <a:t>http://linkedin.com/in/stefanlieser</a:t>
            </a:r>
          </a:p>
        </p:txBody>
      </p:sp>
      <p:sp>
        <p:nvSpPr>
          <p:cNvPr id="979" name="TextBox 13">
            <a:hlinkClick r:id="rId2" invalidUrl="" action="" tgtFrame="" tooltip="" history="1" highlightClick="0" endSnd="0"/>
          </p:cNvPr>
          <p:cNvSpPr txBox="1"/>
          <p:nvPr/>
        </p:nvSpPr>
        <p:spPr>
          <a:xfrm>
            <a:off x="2911237" y="4316081"/>
            <a:ext cx="493949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pPr/>
            <a:r>
              <a:t>https://twitter.com/StefanLieser</a:t>
            </a:r>
          </a:p>
        </p:txBody>
      </p:sp>
      <p:sp>
        <p:nvSpPr>
          <p:cNvPr id="980" name="TextBox 14">
            <a:hlinkClick r:id="rId4" invalidUrl="" action="" tgtFrame="" tooltip="" history="1" highlightClick="0" endSnd="0"/>
          </p:cNvPr>
          <p:cNvSpPr txBox="1"/>
          <p:nvPr/>
        </p:nvSpPr>
        <p:spPr>
          <a:xfrm>
            <a:off x="2911237" y="5119008"/>
            <a:ext cx="493949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pPr/>
            <a:r>
              <a:t>http://xing.com/profile/stefan_lieser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